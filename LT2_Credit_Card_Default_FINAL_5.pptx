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6115"/>
  </p:normalViewPr>
  <p:slideViewPr>
    <p:cSldViewPr snapToGrid="0" snapToObjects="1">
      <p:cViewPr varScale="1">
        <p:scale>
          <a:sx n="161" d="100"/>
          <a:sy n="161" d="100"/>
        </p:scale>
        <p:origin x="26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1041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dataset I am working with is the Default of Credit Card Clients from the UCI Machine Learning Repository, collected in Taiwan in 2005. It contains 30,000 clients, 24 features, and zero missing values. The target variable is whether a client will default on their payment next month, which makes this a binary classification problem. One important observation right away is class imbalance — 77.9% of clients did not default, and only 22.1% did. This will need to be handled before modeling.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goal of this project is to predict credit card default early so banks can intervene before losses occur. The dataset covers 6 months of payment history, bill amounts, and repayment amounts for each client, along with basic demographic and credit information. Before starting the analysis, I cleaned the data. I dropped the ID column because it is just a row number with no predictive value. I also fixed two categorical columns — EDUCATION had undocumented values 0, 5, and 6 which I recoded into category 4 meaning Others, and MARRIAGE had an undocumented value 0 which I recoded into category 3. After these steps the dataset has no missing values and is ready for analysis.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Looking at the EDA findings, the first thing I checked was the class distribution. We have 23,364 clients who did not default versus 6,636 who did, which is a 77.9 to 22.1 split. This imbalance means that if a model simply predicts no default for every client it would score 77.9% accuracy, but it would catch zero actual defaulters. To fix this I will use class_weight=balanced in the models and a stratified split when dividing the data. On the outliers side, the bill amount and payment amount columns each have around 8 to 10 percent of values flagged as outliers. These are not data errors, they represent real high-value clients. I will cap them at the 1st and 99th percentile, which is called Winsorizing. Looking at the distributions, credit limit is right-skewed with most clients between 50 and 300 thousand NT dollars, age is roughly normal with an average of 35, and most clients have a PAY_0 value of negative 1 meaning they paid on time.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for the correlation and statistical tests, which is the most important slide. Starting with Pearson correlation, PAY_0 which is last month's payment status has the strongest correlation with default at 0.325. This means clients who were late last month are more likely to default next month. PAY_2 and PAY_3 follow with 0.264 and 0.235, showing that a persistent pattern of late payments increases the risk. LIMIT_BAL has a negative correlation of negative 0.154, meaning clients with higher credit limits tend to default less. BILL_AMT1 has a very weak correlation of negative 0.020, so the bill amount alone is not a useful predictor. For the categorical features I ran a Chi-Square test, which checks whether two categorical variables are related to each other. SEX, EDUCATION, and MARRIAGE all came back with p-values below 0.0001, meaning all three are statistically significant predictors of default. For the numerical features I used ANOVA, which tests whether the mean of a numerical variable differs between the default and non-default groups. LIMIT_BAL has an F-statistic of 724, which is extremely high and confirms that credit limit is very different between the two groups. All features pass the significance threshold at p below 0.05.</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After the EDA I finalized my feature set. I am keeping all 23 original features across five groups: 3 demographic columns, 2 credit variables which are credit limit and age, 6 payment status columns covering each of the 6 months, 6 bill amount columns, and 6 payment amount columns. In addition to these I engineered 5 new features from the existing data. avg_pay_delay is the average payment delay across all 6 months, which captures clients who are consistently late. avg_bill_amt and avg_pay_amt summarize spending and repayment behavior over the full period. pay_to_bill_ratio divides average payment by average bill — a value below 1 means the client is not paying off their full balance, which is a strong risk signal. Finally total_delay_months counts how many of the 6 months had a late payment, capturing the frequency of delays. This brings the total to 28 features going into the model.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preprocessing, I will follow 7 steps in order. Drop the ID column, fix the encoding in EDUCATION and MARRIAGE, Winsorize the outliers in bill and payment columns, create the 5 engineered features, apply StandardScaler to normalize all numerical columns to the same range, do a stratified 80/20 train-test split, and apply class_weight=balanced to all classifiers. For modeling I will test four options. Logistic Regression as a simple interpretable baseline. Decision Tree for its easy-to-visualize structure. Random Forest as the main model since it is an ensemble method that handles mixed feature types well. And XGBoost for comparison as it is generally strong on imbalanced tabular data. Because of the class imbalance, accuracy is not my primary evaluation metric. The most important metric is Recall, which measures how many of the real defaulters the model actually catches. Missing a real defaulter costs the bank more than a false alarm. I will also use F1-Score, ROC-AUC, and the Confusion Matrix to get a full picture of model performance.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a:effectLst/>
      </p:bgPr>
    </p:bg>
    <p:spTree>
      <p:nvGrpSpPr>
        <p:cNvPr id="1" name=""/>
        <p:cNvGrpSpPr/>
        <p:nvPr/>
      </p:nvGrpSpPr>
      <p:grpSpPr>
        <a:xfrm>
          <a:off x="0" y="0"/>
          <a:ext cx="0" cy="0"/>
          <a:chOff x="0" y="0"/>
          <a:chExt cx="0" cy="0"/>
        </a:xfrm>
      </p:grpSpPr>
      <p:sp>
        <p:nvSpPr>
          <p:cNvPr id="2" name="Text 0"/>
          <p:cNvSpPr/>
          <p:nvPr/>
        </p:nvSpPr>
        <p:spPr>
          <a:xfrm>
            <a:off x="457200" y="914400"/>
            <a:ext cx="8229600" cy="731520"/>
          </a:xfrm>
          <a:prstGeom prst="rect">
            <a:avLst/>
          </a:prstGeom>
          <a:noFill/>
          <a:ln/>
        </p:spPr>
        <p:txBody>
          <a:bodyPr wrap="square" rtlCol="0" anchor="ctr"/>
          <a:lstStyle/>
          <a:p>
            <a:pPr marL="0" indent="0" algn="ctr">
              <a:buNone/>
            </a:pPr>
            <a:r>
              <a:rPr lang="en-US" sz="4200" b="1" dirty="0">
                <a:solidFill>
                  <a:srgbClr val="FFFFFF"/>
                </a:solidFill>
                <a:latin typeface="Calibri" pitchFamily="34" charset="0"/>
                <a:ea typeface="Calibri" pitchFamily="34" charset="-122"/>
                <a:cs typeface="Calibri" pitchFamily="34" charset="-120"/>
              </a:rPr>
              <a:t>Credit Card Default Prediction</a:t>
            </a:r>
            <a:endParaRPr lang="en-US" sz="4200" dirty="0"/>
          </a:p>
        </p:txBody>
      </p:sp>
      <p:sp>
        <p:nvSpPr>
          <p:cNvPr id="3" name="Text 1"/>
          <p:cNvSpPr/>
          <p:nvPr/>
        </p:nvSpPr>
        <p:spPr>
          <a:xfrm>
            <a:off x="457200" y="1737360"/>
            <a:ext cx="8229600" cy="457200"/>
          </a:xfrm>
          <a:prstGeom prst="rect">
            <a:avLst/>
          </a:prstGeom>
          <a:noFill/>
          <a:ln/>
        </p:spPr>
        <p:txBody>
          <a:bodyPr wrap="square" rtlCol="0" anchor="ctr"/>
          <a:lstStyle/>
          <a:p>
            <a:pPr marL="0" indent="0" algn="ctr">
              <a:buNone/>
            </a:pPr>
            <a:r>
              <a:rPr lang="en-US" sz="2000" dirty="0">
                <a:solidFill>
                  <a:srgbClr val="FBC02D"/>
                </a:solidFill>
                <a:latin typeface="Calibri" pitchFamily="34" charset="0"/>
                <a:ea typeface="Calibri" pitchFamily="34" charset="-122"/>
                <a:cs typeface="Calibri" pitchFamily="34" charset="-120"/>
              </a:rPr>
              <a:t>Lightning Talk #2 - EDA, Preprocessing &amp; Modeling</a:t>
            </a:r>
            <a:endParaRPr lang="en-US" sz="2000" dirty="0"/>
          </a:p>
        </p:txBody>
      </p:sp>
      <p:sp>
        <p:nvSpPr>
          <p:cNvPr id="4" name="Shape 2"/>
          <p:cNvSpPr/>
          <p:nvPr/>
        </p:nvSpPr>
        <p:spPr>
          <a:xfrm>
            <a:off x="731520" y="2468880"/>
            <a:ext cx="7680960" cy="3291840"/>
          </a:xfrm>
          <a:prstGeom prst="rect">
            <a:avLst/>
          </a:prstGeom>
          <a:solidFill>
            <a:srgbClr val="FFFFFF"/>
          </a:solidFill>
          <a:ln w="12700">
            <a:solidFill>
              <a:srgbClr val="2E7D32"/>
            </a:solidFill>
            <a:prstDash val="solid"/>
          </a:ln>
        </p:spPr>
        <p:txBody>
          <a:bodyPr/>
          <a:lstStyle/>
          <a:p>
            <a:endParaRPr lang="en-US"/>
          </a:p>
        </p:txBody>
      </p:sp>
      <p:sp>
        <p:nvSpPr>
          <p:cNvPr id="5" name="Text 3"/>
          <p:cNvSpPr/>
          <p:nvPr/>
        </p:nvSpPr>
        <p:spPr>
          <a:xfrm>
            <a:off x="1097280" y="2651760"/>
            <a:ext cx="6949440" cy="365760"/>
          </a:xfrm>
          <a:prstGeom prst="rect">
            <a:avLst/>
          </a:prstGeom>
          <a:noFill/>
          <a:ln/>
        </p:spPr>
        <p:txBody>
          <a:bodyPr wrap="square" rtlCol="0" anchor="ctr"/>
          <a:lstStyle/>
          <a:p>
            <a:pPr marL="0" indent="0">
              <a:buNone/>
            </a:pPr>
            <a:r>
              <a:rPr lang="en-US" sz="1500" b="1" dirty="0">
                <a:solidFill>
                  <a:srgbClr val="2E7D32"/>
                </a:solidFill>
                <a:latin typeface="Calibri" pitchFamily="34" charset="0"/>
                <a:ea typeface="Calibri" pitchFamily="34" charset="-122"/>
                <a:cs typeface="Calibri" pitchFamily="34" charset="-120"/>
              </a:rPr>
              <a:t>Dataset Overview:</a:t>
            </a:r>
            <a:endParaRPr lang="en-US" sz="1500" dirty="0"/>
          </a:p>
        </p:txBody>
      </p:sp>
      <p:sp>
        <p:nvSpPr>
          <p:cNvPr id="6" name="Text 4"/>
          <p:cNvSpPr/>
          <p:nvPr/>
        </p:nvSpPr>
        <p:spPr>
          <a:xfrm>
            <a:off x="1371600" y="3063240"/>
            <a:ext cx="6583680" cy="320040"/>
          </a:xfrm>
          <a:prstGeom prst="rect">
            <a:avLst/>
          </a:prstGeom>
          <a:noFill/>
          <a:ln/>
        </p:spPr>
        <p:txBody>
          <a:bodyPr wrap="square" rtlCol="0" anchor="ctr"/>
          <a:lstStyle/>
          <a:p>
            <a:pPr marL="0" indent="0">
              <a:buNone/>
            </a:pPr>
            <a:r>
              <a:rPr lang="en-US" sz="1200" dirty="0">
                <a:solidFill>
                  <a:srgbClr val="212121"/>
                </a:solidFill>
                <a:latin typeface="Calibri" pitchFamily="34" charset="0"/>
                <a:ea typeface="Calibri" pitchFamily="34" charset="-122"/>
                <a:cs typeface="Calibri" pitchFamily="34" charset="-120"/>
              </a:rPr>
              <a:t>UCI - Default of Credit Card Clients (Taiwan)</a:t>
            </a:r>
            <a:endParaRPr lang="en-US" sz="1200" dirty="0"/>
          </a:p>
        </p:txBody>
      </p:sp>
      <p:sp>
        <p:nvSpPr>
          <p:cNvPr id="7" name="Text 5"/>
          <p:cNvSpPr/>
          <p:nvPr/>
        </p:nvSpPr>
        <p:spPr>
          <a:xfrm>
            <a:off x="1371600" y="3465576"/>
            <a:ext cx="6583680" cy="320040"/>
          </a:xfrm>
          <a:prstGeom prst="rect">
            <a:avLst/>
          </a:prstGeom>
          <a:noFill/>
          <a:ln/>
        </p:spPr>
        <p:txBody>
          <a:bodyPr wrap="square" rtlCol="0" anchor="ctr"/>
          <a:lstStyle/>
          <a:p>
            <a:pPr marL="0" indent="0">
              <a:buNone/>
            </a:pPr>
            <a:r>
              <a:rPr lang="en-US" sz="1200" dirty="0">
                <a:solidFill>
                  <a:srgbClr val="212121"/>
                </a:solidFill>
                <a:latin typeface="Calibri" pitchFamily="34" charset="0"/>
                <a:ea typeface="Calibri" pitchFamily="34" charset="-122"/>
                <a:cs typeface="Calibri" pitchFamily="34" charset="-120"/>
              </a:rPr>
              <a:t>30,000 clients | 24 features | 0 missing values</a:t>
            </a:r>
            <a:endParaRPr lang="en-US" sz="1200" dirty="0"/>
          </a:p>
        </p:txBody>
      </p:sp>
      <p:sp>
        <p:nvSpPr>
          <p:cNvPr id="8" name="Text 6"/>
          <p:cNvSpPr/>
          <p:nvPr/>
        </p:nvSpPr>
        <p:spPr>
          <a:xfrm>
            <a:off x="1371600" y="3867912"/>
            <a:ext cx="6583680" cy="320040"/>
          </a:xfrm>
          <a:prstGeom prst="rect">
            <a:avLst/>
          </a:prstGeom>
          <a:noFill/>
          <a:ln/>
        </p:spPr>
        <p:txBody>
          <a:bodyPr wrap="square" rtlCol="0" anchor="ctr"/>
          <a:lstStyle/>
          <a:p>
            <a:pPr marL="0" indent="0">
              <a:buNone/>
            </a:pPr>
            <a:r>
              <a:rPr lang="en-US" sz="1200" dirty="0">
                <a:solidFill>
                  <a:srgbClr val="212121"/>
                </a:solidFill>
                <a:latin typeface="Calibri" pitchFamily="34" charset="0"/>
                <a:ea typeface="Calibri" pitchFamily="34" charset="-122"/>
                <a:cs typeface="Calibri" pitchFamily="34" charset="-120"/>
              </a:rPr>
              <a:t>Target: default payment next month (0 = No, 1 = Yes)</a:t>
            </a:r>
            <a:endParaRPr lang="en-US" sz="1200" dirty="0"/>
          </a:p>
        </p:txBody>
      </p:sp>
      <p:sp>
        <p:nvSpPr>
          <p:cNvPr id="9" name="Text 7"/>
          <p:cNvSpPr/>
          <p:nvPr/>
        </p:nvSpPr>
        <p:spPr>
          <a:xfrm>
            <a:off x="1371600" y="4270248"/>
            <a:ext cx="6583680" cy="320040"/>
          </a:xfrm>
          <a:prstGeom prst="rect">
            <a:avLst/>
          </a:prstGeom>
          <a:noFill/>
          <a:ln/>
        </p:spPr>
        <p:txBody>
          <a:bodyPr wrap="square" rtlCol="0" anchor="ctr"/>
          <a:lstStyle/>
          <a:p>
            <a:pPr marL="0" indent="0">
              <a:buNone/>
            </a:pPr>
            <a:r>
              <a:rPr lang="en-US" sz="1200" dirty="0">
                <a:solidFill>
                  <a:srgbClr val="212121"/>
                </a:solidFill>
                <a:latin typeface="Calibri" pitchFamily="34" charset="0"/>
                <a:ea typeface="Calibri" pitchFamily="34" charset="-122"/>
                <a:cs typeface="Calibri" pitchFamily="34" charset="-120"/>
              </a:rPr>
              <a:t>Problem Type: Binary Classification</a:t>
            </a:r>
            <a:endParaRPr lang="en-US" sz="1200" dirty="0"/>
          </a:p>
        </p:txBody>
      </p:sp>
      <p:sp>
        <p:nvSpPr>
          <p:cNvPr id="10" name="Text 8"/>
          <p:cNvSpPr/>
          <p:nvPr/>
        </p:nvSpPr>
        <p:spPr>
          <a:xfrm>
            <a:off x="1371600" y="4672584"/>
            <a:ext cx="6583680" cy="320040"/>
          </a:xfrm>
          <a:prstGeom prst="rect">
            <a:avLst/>
          </a:prstGeom>
          <a:noFill/>
          <a:ln/>
        </p:spPr>
        <p:txBody>
          <a:bodyPr wrap="square" rtlCol="0" anchor="ctr"/>
          <a:lstStyle/>
          <a:p>
            <a:pPr marL="0" indent="0">
              <a:buNone/>
            </a:pPr>
            <a:r>
              <a:rPr lang="en-US" sz="1200" dirty="0">
                <a:solidFill>
                  <a:srgbClr val="212121"/>
                </a:solidFill>
                <a:latin typeface="Calibri" pitchFamily="34" charset="0"/>
                <a:ea typeface="Calibri" pitchFamily="34" charset="-122"/>
                <a:cs typeface="Calibri" pitchFamily="34" charset="-120"/>
              </a:rPr>
              <a:t>Class imbalance: 77.9% No Default vs 22.1% Default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3A5F"/>
          </a:solidFill>
          <a:ln/>
        </p:spPr>
        <p:txBody>
          <a:bodyPr/>
          <a:lstStyle/>
          <a:p>
            <a:endParaRPr lang="en-US"/>
          </a:p>
        </p:txBody>
      </p:sp>
      <p:sp>
        <p:nvSpPr>
          <p:cNvPr id="3" name="Text 1"/>
          <p:cNvSpPr/>
          <p:nvPr/>
        </p:nvSpPr>
        <p:spPr>
          <a:xfrm>
            <a:off x="457200" y="182880"/>
            <a:ext cx="82296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Refined Problem Statement</a:t>
            </a:r>
            <a:endParaRPr lang="en-US" sz="2800" dirty="0"/>
          </a:p>
        </p:txBody>
      </p:sp>
      <p:sp>
        <p:nvSpPr>
          <p:cNvPr id="4" name="Shape 2"/>
          <p:cNvSpPr/>
          <p:nvPr/>
        </p:nvSpPr>
        <p:spPr>
          <a:xfrm>
            <a:off x="457200" y="1097280"/>
            <a:ext cx="8229600" cy="1828800"/>
          </a:xfrm>
          <a:prstGeom prst="rect">
            <a:avLst/>
          </a:prstGeom>
          <a:solidFill>
            <a:srgbClr val="E8F5E9"/>
          </a:solidFill>
          <a:ln w="12700">
            <a:solidFill>
              <a:srgbClr val="2E7D32"/>
            </a:solidFill>
            <a:prstDash val="solid"/>
          </a:ln>
        </p:spPr>
        <p:txBody>
          <a:bodyPr/>
          <a:lstStyle/>
          <a:p>
            <a:endParaRPr lang="en-US"/>
          </a:p>
        </p:txBody>
      </p:sp>
      <p:sp>
        <p:nvSpPr>
          <p:cNvPr id="5" name="Text 3"/>
          <p:cNvSpPr/>
          <p:nvPr/>
        </p:nvSpPr>
        <p:spPr>
          <a:xfrm>
            <a:off x="640080" y="1207008"/>
            <a:ext cx="7863840" cy="1554480"/>
          </a:xfrm>
          <a:prstGeom prst="rect">
            <a:avLst/>
          </a:prstGeom>
          <a:noFill/>
          <a:ln/>
        </p:spPr>
        <p:txBody>
          <a:bodyPr wrap="square" rtlCol="0" anchor="ctr"/>
          <a:lstStyle/>
          <a:p>
            <a:pPr marL="0" indent="0">
              <a:buNone/>
            </a:pPr>
            <a:r>
              <a:rPr lang="en-US" sz="1200" dirty="0">
                <a:solidFill>
                  <a:srgbClr val="2E7D32"/>
                </a:solidFill>
                <a:latin typeface="Calibri" pitchFamily="34" charset="0"/>
                <a:ea typeface="Calibri" pitchFamily="34" charset="-122"/>
                <a:cs typeface="Calibri" pitchFamily="34" charset="-120"/>
              </a:rPr>
              <a:t>Banks lose a lot of money when clients do not pay. The old way banks check this is too simple and misses patterns in how people actually pay over time. Using 30,000 clients with 24 features covering 6 months of payment history, bill amounts, and repayment history, we aim to predict whether a client will default next month — so banks can step in early and reduce losses.</a:t>
            </a:r>
            <a:endParaRPr lang="en-US" sz="1200" dirty="0"/>
          </a:p>
        </p:txBody>
      </p:sp>
      <p:sp>
        <p:nvSpPr>
          <p:cNvPr id="6" name="Text 4"/>
          <p:cNvSpPr/>
          <p:nvPr/>
        </p:nvSpPr>
        <p:spPr>
          <a:xfrm>
            <a:off x="640080" y="3063240"/>
            <a:ext cx="8229600" cy="274320"/>
          </a:xfrm>
          <a:prstGeom prst="rect">
            <a:avLst/>
          </a:prstGeom>
          <a:noFill/>
          <a:ln/>
        </p:spPr>
        <p:txBody>
          <a:bodyPr wrap="square" rtlCol="0" anchor="ctr"/>
          <a:lstStyle/>
          <a:p>
            <a:pPr marL="0" indent="0">
              <a:buNone/>
            </a:pPr>
            <a:r>
              <a:rPr lang="en-US" sz="1300" b="1" dirty="0">
                <a:solidFill>
                  <a:srgbClr val="212121"/>
                </a:solidFill>
                <a:latin typeface="Calibri" pitchFamily="34" charset="0"/>
                <a:ea typeface="Calibri" pitchFamily="34" charset="-122"/>
                <a:cs typeface="Calibri" pitchFamily="34" charset="-120"/>
              </a:rPr>
              <a:t>Data Cleaning Done:</a:t>
            </a:r>
            <a:endParaRPr lang="en-US" sz="1300" dirty="0"/>
          </a:p>
        </p:txBody>
      </p:sp>
      <p:sp>
        <p:nvSpPr>
          <p:cNvPr id="7" name="Text 5"/>
          <p:cNvSpPr/>
          <p:nvPr/>
        </p:nvSpPr>
        <p:spPr>
          <a:xfrm>
            <a:off x="822960" y="3429000"/>
            <a:ext cx="7772400" cy="320040"/>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Removed ID column — just a number, adds no value to the model</a:t>
            </a:r>
            <a:endParaRPr lang="en-US" sz="1100" dirty="0"/>
          </a:p>
        </p:txBody>
      </p:sp>
      <p:sp>
        <p:nvSpPr>
          <p:cNvPr id="8" name="Text 6"/>
          <p:cNvSpPr/>
          <p:nvPr/>
        </p:nvSpPr>
        <p:spPr>
          <a:xfrm>
            <a:off x="822960" y="3831336"/>
            <a:ext cx="7772400" cy="320040"/>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EDUCATION: grouped unknown values (0, 5, 6) into category 4 (Others)</a:t>
            </a:r>
            <a:endParaRPr lang="en-US" sz="1100" dirty="0"/>
          </a:p>
        </p:txBody>
      </p:sp>
      <p:sp>
        <p:nvSpPr>
          <p:cNvPr id="9" name="Text 7"/>
          <p:cNvSpPr/>
          <p:nvPr/>
        </p:nvSpPr>
        <p:spPr>
          <a:xfrm>
            <a:off x="822960" y="4233672"/>
            <a:ext cx="7772400" cy="320040"/>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MARRIAGE: grouped unknown value (0) into category 3 (Others)</a:t>
            </a:r>
            <a:endParaRPr lang="en-US" sz="1100" dirty="0"/>
          </a:p>
        </p:txBody>
      </p:sp>
      <p:sp>
        <p:nvSpPr>
          <p:cNvPr id="10" name="Text 8"/>
          <p:cNvSpPr/>
          <p:nvPr/>
        </p:nvSpPr>
        <p:spPr>
          <a:xfrm>
            <a:off x="822960" y="4636008"/>
            <a:ext cx="7772400" cy="320040"/>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No missing values found — dataset is clean and ready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3A5F"/>
          </a:solidFill>
          <a:ln/>
        </p:spPr>
        <p:txBody>
          <a:bodyPr/>
          <a:lstStyle/>
          <a:p>
            <a:endParaRPr lang="en-US"/>
          </a:p>
        </p:txBody>
      </p:sp>
      <p:sp>
        <p:nvSpPr>
          <p:cNvPr id="3" name="Text 1"/>
          <p:cNvSpPr/>
          <p:nvPr/>
        </p:nvSpPr>
        <p:spPr>
          <a:xfrm>
            <a:off x="457200" y="182880"/>
            <a:ext cx="82296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EDA: Simple Findings</a:t>
            </a:r>
            <a:endParaRPr lang="en-US" sz="2800" dirty="0"/>
          </a:p>
        </p:txBody>
      </p:sp>
      <p:sp>
        <p:nvSpPr>
          <p:cNvPr id="4" name="Shape 2"/>
          <p:cNvSpPr/>
          <p:nvPr/>
        </p:nvSpPr>
        <p:spPr>
          <a:xfrm>
            <a:off x="457200" y="1097280"/>
            <a:ext cx="3931920" cy="3657600"/>
          </a:xfrm>
          <a:prstGeom prst="rect">
            <a:avLst/>
          </a:prstGeom>
          <a:solidFill>
            <a:srgbClr val="F5F5F5"/>
          </a:solidFill>
          <a:ln w="12700">
            <a:solidFill>
              <a:srgbClr val="2E7D32"/>
            </a:solidFill>
            <a:prstDash val="solid"/>
          </a:ln>
        </p:spPr>
        <p:txBody>
          <a:bodyPr/>
          <a:lstStyle/>
          <a:p>
            <a:endParaRPr lang="en-US"/>
          </a:p>
        </p:txBody>
      </p:sp>
      <p:sp>
        <p:nvSpPr>
          <p:cNvPr id="5" name="Text 3"/>
          <p:cNvSpPr/>
          <p:nvPr/>
        </p:nvSpPr>
        <p:spPr>
          <a:xfrm>
            <a:off x="640080" y="1280160"/>
            <a:ext cx="3566160" cy="274320"/>
          </a:xfrm>
          <a:prstGeom prst="rect">
            <a:avLst/>
          </a:prstGeom>
          <a:noFill/>
          <a:ln/>
        </p:spPr>
        <p:txBody>
          <a:bodyPr wrap="square"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Class Imbalance:</a:t>
            </a:r>
            <a:endParaRPr lang="en-US" sz="1200" dirty="0"/>
          </a:p>
        </p:txBody>
      </p:sp>
      <p:sp>
        <p:nvSpPr>
          <p:cNvPr id="6" name="Text 4"/>
          <p:cNvSpPr/>
          <p:nvPr/>
        </p:nvSpPr>
        <p:spPr>
          <a:xfrm>
            <a:off x="822960" y="1664208"/>
            <a:ext cx="3474720" cy="347472"/>
          </a:xfrm>
          <a:prstGeom prst="rect">
            <a:avLst/>
          </a:prstGeom>
          <a:noFill/>
          <a:ln/>
        </p:spPr>
        <p:txBody>
          <a:bodyPr wrap="square"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No Default (0): 23,364  —  77.9%</a:t>
            </a:r>
            <a:endParaRPr lang="en-US" sz="1100" dirty="0"/>
          </a:p>
        </p:txBody>
      </p:sp>
      <p:sp>
        <p:nvSpPr>
          <p:cNvPr id="7" name="Text 5"/>
          <p:cNvSpPr/>
          <p:nvPr/>
        </p:nvSpPr>
        <p:spPr>
          <a:xfrm>
            <a:off x="822960" y="2121408"/>
            <a:ext cx="3474720" cy="347472"/>
          </a:xfrm>
          <a:prstGeom prst="rect">
            <a:avLst/>
          </a:prstGeom>
          <a:noFill/>
          <a:ln/>
        </p:spPr>
        <p:txBody>
          <a:bodyPr wrap="square"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Default   (1): 6,636   —  22.1%</a:t>
            </a:r>
            <a:endParaRPr lang="en-US" sz="1100" dirty="0"/>
          </a:p>
        </p:txBody>
      </p:sp>
      <p:sp>
        <p:nvSpPr>
          <p:cNvPr id="8" name="Text 6"/>
          <p:cNvSpPr/>
          <p:nvPr/>
        </p:nvSpPr>
        <p:spPr>
          <a:xfrm>
            <a:off x="640080" y="2724912"/>
            <a:ext cx="3566160" cy="457200"/>
          </a:xfrm>
          <a:prstGeom prst="rect">
            <a:avLst/>
          </a:prstGeom>
          <a:noFill/>
          <a:ln/>
        </p:spPr>
        <p:txBody>
          <a:bodyPr wrap="square" rtlCol="0" anchor="ctr"/>
          <a:lstStyle/>
          <a:p>
            <a:pPr marL="0" indent="0">
              <a:buNone/>
            </a:pPr>
            <a:r>
              <a:rPr lang="en-US" sz="1000" i="1" dirty="0">
                <a:solidFill>
                  <a:srgbClr val="D32F2F"/>
                </a:solidFill>
                <a:latin typeface="Calibri" pitchFamily="34" charset="0"/>
                <a:ea typeface="Calibri" pitchFamily="34" charset="-122"/>
                <a:cs typeface="Calibri" pitchFamily="34" charset="-120"/>
              </a:rPr>
              <a:t>Fix: class_weight=balanced</a:t>
            </a:r>
            <a:endParaRPr lang="en-US" sz="1000" dirty="0"/>
          </a:p>
          <a:p>
            <a:pPr marL="0" indent="0">
              <a:buNone/>
            </a:pPr>
            <a:r>
              <a:rPr lang="en-US" sz="1000" i="1" dirty="0">
                <a:solidFill>
                  <a:srgbClr val="D32F2F"/>
                </a:solidFill>
                <a:latin typeface="Calibri" pitchFamily="34" charset="0"/>
                <a:ea typeface="Calibri" pitchFamily="34" charset="-122"/>
                <a:cs typeface="Calibri" pitchFamily="34" charset="-120"/>
              </a:rPr>
              <a:t>+ stratified 80/20 split</a:t>
            </a:r>
            <a:endParaRPr lang="en-US" sz="1000" dirty="0"/>
          </a:p>
        </p:txBody>
      </p:sp>
      <p:sp>
        <p:nvSpPr>
          <p:cNvPr id="9" name="Text 7"/>
          <p:cNvSpPr/>
          <p:nvPr/>
        </p:nvSpPr>
        <p:spPr>
          <a:xfrm>
            <a:off x="640080" y="3291840"/>
            <a:ext cx="3566160" cy="274320"/>
          </a:xfrm>
          <a:prstGeom prst="rect">
            <a:avLst/>
          </a:prstGeom>
          <a:noFill/>
          <a:ln/>
        </p:spPr>
        <p:txBody>
          <a:bodyPr wrap="square"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Outliers Found:</a:t>
            </a:r>
            <a:endParaRPr lang="en-US" sz="1200" dirty="0"/>
          </a:p>
        </p:txBody>
      </p:sp>
      <p:sp>
        <p:nvSpPr>
          <p:cNvPr id="10" name="Text 8"/>
          <p:cNvSpPr/>
          <p:nvPr/>
        </p:nvSpPr>
        <p:spPr>
          <a:xfrm>
            <a:off x="822960" y="3584448"/>
            <a:ext cx="3474720" cy="256032"/>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BILL_AMT1-6: ~8-9% per column</a:t>
            </a:r>
            <a:endParaRPr lang="en-US" sz="1000" dirty="0"/>
          </a:p>
        </p:txBody>
      </p:sp>
      <p:sp>
        <p:nvSpPr>
          <p:cNvPr id="11" name="Text 9"/>
          <p:cNvSpPr/>
          <p:nvPr/>
        </p:nvSpPr>
        <p:spPr>
          <a:xfrm>
            <a:off x="822960" y="3855989"/>
            <a:ext cx="3474720" cy="256032"/>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PAY_AMT1-6: ~9-10% per column</a:t>
            </a:r>
            <a:endParaRPr lang="en-US" sz="1000" dirty="0"/>
          </a:p>
        </p:txBody>
      </p:sp>
      <p:sp>
        <p:nvSpPr>
          <p:cNvPr id="12" name="Text 10"/>
          <p:cNvSpPr/>
          <p:nvPr/>
        </p:nvSpPr>
        <p:spPr>
          <a:xfrm>
            <a:off x="830911" y="4086175"/>
            <a:ext cx="3474720" cy="256032"/>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LIMIT_BAL: 0.6%</a:t>
            </a:r>
            <a:endParaRPr lang="en-US" sz="1000" dirty="0"/>
          </a:p>
        </p:txBody>
      </p:sp>
      <p:sp>
        <p:nvSpPr>
          <p:cNvPr id="13" name="Text 11"/>
          <p:cNvSpPr/>
          <p:nvPr/>
        </p:nvSpPr>
        <p:spPr>
          <a:xfrm>
            <a:off x="822960" y="4332269"/>
            <a:ext cx="3474720" cy="256032"/>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Fix: Cap at 1%-99% (Winsorize)</a:t>
            </a:r>
            <a:endParaRPr lang="en-US" sz="1000" dirty="0"/>
          </a:p>
        </p:txBody>
      </p:sp>
      <p:sp>
        <p:nvSpPr>
          <p:cNvPr id="14" name="Shape 12"/>
          <p:cNvSpPr/>
          <p:nvPr/>
        </p:nvSpPr>
        <p:spPr>
          <a:xfrm>
            <a:off x="4754880" y="1097280"/>
            <a:ext cx="3931920" cy="3657600"/>
          </a:xfrm>
          <a:prstGeom prst="rect">
            <a:avLst/>
          </a:prstGeom>
          <a:solidFill>
            <a:srgbClr val="F5F5F5"/>
          </a:solidFill>
          <a:ln w="12700">
            <a:solidFill>
              <a:srgbClr val="2E7D32"/>
            </a:solidFill>
            <a:prstDash val="solid"/>
          </a:ln>
        </p:spPr>
        <p:txBody>
          <a:bodyPr/>
          <a:lstStyle/>
          <a:p>
            <a:endParaRPr lang="en-US"/>
          </a:p>
        </p:txBody>
      </p:sp>
      <p:sp>
        <p:nvSpPr>
          <p:cNvPr id="15" name="Text 13"/>
          <p:cNvSpPr/>
          <p:nvPr/>
        </p:nvSpPr>
        <p:spPr>
          <a:xfrm>
            <a:off x="4937760" y="1280160"/>
            <a:ext cx="3566160" cy="274320"/>
          </a:xfrm>
          <a:prstGeom prst="rect">
            <a:avLst/>
          </a:prstGeom>
          <a:noFill/>
          <a:ln/>
        </p:spPr>
        <p:txBody>
          <a:bodyPr wrap="square"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Key Distributions:</a:t>
            </a:r>
            <a:endParaRPr lang="en-US" sz="1200" dirty="0"/>
          </a:p>
        </p:txBody>
      </p:sp>
      <p:sp>
        <p:nvSpPr>
          <p:cNvPr id="16" name="Text 14"/>
          <p:cNvSpPr/>
          <p:nvPr/>
        </p:nvSpPr>
        <p:spPr>
          <a:xfrm>
            <a:off x="5029200" y="1664208"/>
            <a:ext cx="3474720" cy="320040"/>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LIMIT_BAL: right-skewed, most 50K-300K NT$</a:t>
            </a:r>
            <a:endParaRPr lang="en-US" sz="1000" dirty="0"/>
          </a:p>
        </p:txBody>
      </p:sp>
      <p:sp>
        <p:nvSpPr>
          <p:cNvPr id="17" name="Text 15"/>
          <p:cNvSpPr/>
          <p:nvPr/>
        </p:nvSpPr>
        <p:spPr>
          <a:xfrm>
            <a:off x="5029200" y="2048256"/>
            <a:ext cx="3474720" cy="320040"/>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AGE: roughly normal, average = 35 years</a:t>
            </a:r>
            <a:endParaRPr lang="en-US" sz="1000" dirty="0"/>
          </a:p>
        </p:txBody>
      </p:sp>
      <p:sp>
        <p:nvSpPr>
          <p:cNvPr id="18" name="Text 16"/>
          <p:cNvSpPr/>
          <p:nvPr/>
        </p:nvSpPr>
        <p:spPr>
          <a:xfrm>
            <a:off x="5029200" y="2432304"/>
            <a:ext cx="3474720" cy="320040"/>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SEX: 60% female, 40% male</a:t>
            </a:r>
            <a:endParaRPr lang="en-US" sz="1000" dirty="0"/>
          </a:p>
        </p:txBody>
      </p:sp>
      <p:sp>
        <p:nvSpPr>
          <p:cNvPr id="19" name="Text 17"/>
          <p:cNvSpPr/>
          <p:nvPr/>
        </p:nvSpPr>
        <p:spPr>
          <a:xfrm>
            <a:off x="5029200" y="2816352"/>
            <a:ext cx="3474720" cy="320040"/>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EDUCATION: mostly University (46%)</a:t>
            </a:r>
            <a:endParaRPr lang="en-US" sz="1000" dirty="0"/>
          </a:p>
        </p:txBody>
      </p:sp>
      <p:sp>
        <p:nvSpPr>
          <p:cNvPr id="20" name="Text 18"/>
          <p:cNvSpPr/>
          <p:nvPr/>
        </p:nvSpPr>
        <p:spPr>
          <a:xfrm>
            <a:off x="5029200" y="3200400"/>
            <a:ext cx="3474720" cy="320040"/>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MARRIAGE: mostly Single (53%)</a:t>
            </a:r>
            <a:endParaRPr lang="en-US" sz="1000" dirty="0"/>
          </a:p>
        </p:txBody>
      </p:sp>
      <p:sp>
        <p:nvSpPr>
          <p:cNvPr id="21" name="Text 19"/>
          <p:cNvSpPr/>
          <p:nvPr/>
        </p:nvSpPr>
        <p:spPr>
          <a:xfrm>
            <a:off x="5029200" y="3584448"/>
            <a:ext cx="3474720" cy="320040"/>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PAY_0: most clients paid on time (-1)</a:t>
            </a:r>
            <a:endParaRPr lang="en-US" sz="1000" dirty="0"/>
          </a:p>
        </p:txBody>
      </p:sp>
      <p:sp>
        <p:nvSpPr>
          <p:cNvPr id="22" name="Text 20"/>
          <p:cNvSpPr/>
          <p:nvPr/>
        </p:nvSpPr>
        <p:spPr>
          <a:xfrm>
            <a:off x="5029200" y="3968496"/>
            <a:ext cx="3474720" cy="320040"/>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BILL_AMT: very right-skewed with high outliers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3A5F"/>
          </a:solidFill>
          <a:ln/>
        </p:spPr>
        <p:txBody>
          <a:bodyPr/>
          <a:lstStyle/>
          <a:p>
            <a:endParaRPr lang="en-US"/>
          </a:p>
        </p:txBody>
      </p:sp>
      <p:sp>
        <p:nvSpPr>
          <p:cNvPr id="3" name="Text 1"/>
          <p:cNvSpPr/>
          <p:nvPr/>
        </p:nvSpPr>
        <p:spPr>
          <a:xfrm>
            <a:off x="457200" y="182880"/>
            <a:ext cx="82296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EDA: Correlation &amp; Statistical Tests</a:t>
            </a:r>
            <a:endParaRPr lang="en-US" sz="2800" dirty="0"/>
          </a:p>
        </p:txBody>
      </p:sp>
      <p:sp>
        <p:nvSpPr>
          <p:cNvPr id="4" name="Shape 2"/>
          <p:cNvSpPr/>
          <p:nvPr/>
        </p:nvSpPr>
        <p:spPr>
          <a:xfrm>
            <a:off x="457200" y="1097280"/>
            <a:ext cx="3931920" cy="4572000"/>
          </a:xfrm>
          <a:prstGeom prst="rect">
            <a:avLst/>
          </a:prstGeom>
          <a:solidFill>
            <a:srgbClr val="F5F5F5"/>
          </a:solidFill>
          <a:ln w="12700">
            <a:solidFill>
              <a:srgbClr val="2E7D32"/>
            </a:solidFill>
            <a:prstDash val="solid"/>
          </a:ln>
        </p:spPr>
        <p:txBody>
          <a:bodyPr/>
          <a:lstStyle/>
          <a:p>
            <a:endParaRPr lang="en-US"/>
          </a:p>
        </p:txBody>
      </p:sp>
      <p:sp>
        <p:nvSpPr>
          <p:cNvPr id="5" name="Text 3"/>
          <p:cNvSpPr/>
          <p:nvPr/>
        </p:nvSpPr>
        <p:spPr>
          <a:xfrm>
            <a:off x="640080" y="1234440"/>
            <a:ext cx="3566160" cy="274320"/>
          </a:xfrm>
          <a:prstGeom prst="rect">
            <a:avLst/>
          </a:prstGeom>
          <a:noFill/>
          <a:ln/>
        </p:spPr>
        <p:txBody>
          <a:bodyPr wrap="square"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Correlation with Target:</a:t>
            </a:r>
            <a:endParaRPr lang="en-US" sz="1100" dirty="0"/>
          </a:p>
        </p:txBody>
      </p:sp>
      <p:sp>
        <p:nvSpPr>
          <p:cNvPr id="6" name="Text 4"/>
          <p:cNvSpPr/>
          <p:nvPr/>
        </p:nvSpPr>
        <p:spPr>
          <a:xfrm>
            <a:off x="640080" y="1508760"/>
            <a:ext cx="3566160" cy="228600"/>
          </a:xfrm>
          <a:prstGeom prst="rect">
            <a:avLst/>
          </a:prstGeom>
          <a:noFill/>
          <a:ln/>
        </p:spPr>
        <p:txBody>
          <a:bodyPr wrap="square" rtlCol="0" anchor="ctr"/>
          <a:lstStyle/>
          <a:p>
            <a:pPr marL="0" indent="0">
              <a:buNone/>
            </a:pPr>
            <a:r>
              <a:rPr lang="en-US" sz="900" i="1" dirty="0">
                <a:solidFill>
                  <a:srgbClr val="212121"/>
                </a:solidFill>
                <a:latin typeface="Calibri" pitchFamily="34" charset="0"/>
                <a:ea typeface="Calibri" pitchFamily="34" charset="-122"/>
                <a:cs typeface="Calibri" pitchFamily="34" charset="-120"/>
              </a:rPr>
              <a:t>(How strongly each feature links to default)</a:t>
            </a:r>
            <a:endParaRPr lang="en-US" sz="900" dirty="0"/>
          </a:p>
        </p:txBody>
      </p:sp>
      <p:sp>
        <p:nvSpPr>
          <p:cNvPr id="7" name="Text 5"/>
          <p:cNvSpPr/>
          <p:nvPr/>
        </p:nvSpPr>
        <p:spPr>
          <a:xfrm>
            <a:off x="822960" y="1828800"/>
            <a:ext cx="2011680" cy="347472"/>
          </a:xfrm>
          <a:prstGeom prst="rect">
            <a:avLst/>
          </a:prstGeom>
          <a:noFill/>
          <a:ln/>
        </p:spPr>
        <p:txBody>
          <a:bodyPr wrap="square" rtlCol="0" anchor="ctr"/>
          <a:lstStyle/>
          <a:p>
            <a:pPr marL="0" indent="0">
              <a:buNone/>
            </a:pPr>
            <a:r>
              <a:rPr lang="en-US" sz="1000" b="1" dirty="0">
                <a:solidFill>
                  <a:srgbClr val="212121"/>
                </a:solidFill>
                <a:latin typeface="Calibri" pitchFamily="34" charset="0"/>
                <a:ea typeface="Calibri" pitchFamily="34" charset="-122"/>
                <a:cs typeface="Calibri" pitchFamily="34" charset="-120"/>
              </a:rPr>
              <a:t>PAY_0 (last month delay)</a:t>
            </a:r>
            <a:endParaRPr lang="en-US" sz="1000" dirty="0"/>
          </a:p>
        </p:txBody>
      </p:sp>
      <p:sp>
        <p:nvSpPr>
          <p:cNvPr id="8" name="Text 6"/>
          <p:cNvSpPr/>
          <p:nvPr/>
        </p:nvSpPr>
        <p:spPr>
          <a:xfrm>
            <a:off x="2834640" y="1828800"/>
            <a:ext cx="1188720" cy="347472"/>
          </a:xfrm>
          <a:prstGeom prst="rect">
            <a:avLst/>
          </a:prstGeom>
          <a:noFill/>
          <a:ln/>
        </p:spPr>
        <p:txBody>
          <a:bodyPr wrap="square" rtlCol="0" anchor="ctr"/>
          <a:lstStyle/>
          <a:p>
            <a:pPr marL="0" indent="0">
              <a:buNone/>
            </a:pPr>
            <a:r>
              <a:rPr lang="en-US" sz="1000" dirty="0">
                <a:solidFill>
                  <a:srgbClr val="2E7D32"/>
                </a:solidFill>
                <a:latin typeface="Calibri" pitchFamily="34" charset="0"/>
                <a:ea typeface="Calibri" pitchFamily="34" charset="-122"/>
                <a:cs typeface="Calibri" pitchFamily="34" charset="-120"/>
              </a:rPr>
              <a:t>0.325 — strongest</a:t>
            </a:r>
            <a:endParaRPr lang="en-US" sz="1000" dirty="0"/>
          </a:p>
        </p:txBody>
      </p:sp>
      <p:sp>
        <p:nvSpPr>
          <p:cNvPr id="9" name="Text 7"/>
          <p:cNvSpPr/>
          <p:nvPr/>
        </p:nvSpPr>
        <p:spPr>
          <a:xfrm>
            <a:off x="822960" y="2304288"/>
            <a:ext cx="2011680" cy="347472"/>
          </a:xfrm>
          <a:prstGeom prst="rect">
            <a:avLst/>
          </a:prstGeom>
          <a:noFill/>
          <a:ln/>
        </p:spPr>
        <p:txBody>
          <a:bodyPr wrap="square" rtlCol="0" anchor="ctr"/>
          <a:lstStyle/>
          <a:p>
            <a:pPr marL="0" indent="0">
              <a:buNone/>
            </a:pPr>
            <a:r>
              <a:rPr lang="en-US" sz="1000" b="1" dirty="0">
                <a:solidFill>
                  <a:srgbClr val="212121"/>
                </a:solidFill>
                <a:latin typeface="Calibri" pitchFamily="34" charset="0"/>
                <a:ea typeface="Calibri" pitchFamily="34" charset="-122"/>
                <a:cs typeface="Calibri" pitchFamily="34" charset="-120"/>
              </a:rPr>
              <a:t>PAY_2</a:t>
            </a:r>
            <a:endParaRPr lang="en-US" sz="1000" dirty="0"/>
          </a:p>
        </p:txBody>
      </p:sp>
      <p:sp>
        <p:nvSpPr>
          <p:cNvPr id="10" name="Text 8"/>
          <p:cNvSpPr/>
          <p:nvPr/>
        </p:nvSpPr>
        <p:spPr>
          <a:xfrm>
            <a:off x="2834640" y="2304288"/>
            <a:ext cx="1188720" cy="347472"/>
          </a:xfrm>
          <a:prstGeom prst="rect">
            <a:avLst/>
          </a:prstGeom>
          <a:noFill/>
          <a:ln/>
        </p:spPr>
        <p:txBody>
          <a:bodyPr wrap="square" rtlCol="0" anchor="ctr"/>
          <a:lstStyle/>
          <a:p>
            <a:pPr marL="0" indent="0">
              <a:buNone/>
            </a:pPr>
            <a:r>
              <a:rPr lang="en-US" sz="1000" dirty="0">
                <a:solidFill>
                  <a:srgbClr val="2E7D32"/>
                </a:solidFill>
                <a:latin typeface="Calibri" pitchFamily="34" charset="0"/>
                <a:ea typeface="Calibri" pitchFamily="34" charset="-122"/>
                <a:cs typeface="Calibri" pitchFamily="34" charset="-120"/>
              </a:rPr>
              <a:t>0.264</a:t>
            </a:r>
            <a:endParaRPr lang="en-US" sz="1000" dirty="0"/>
          </a:p>
        </p:txBody>
      </p:sp>
      <p:sp>
        <p:nvSpPr>
          <p:cNvPr id="11" name="Text 9"/>
          <p:cNvSpPr/>
          <p:nvPr/>
        </p:nvSpPr>
        <p:spPr>
          <a:xfrm>
            <a:off x="822960" y="2779776"/>
            <a:ext cx="2011680" cy="347472"/>
          </a:xfrm>
          <a:prstGeom prst="rect">
            <a:avLst/>
          </a:prstGeom>
          <a:noFill/>
          <a:ln/>
        </p:spPr>
        <p:txBody>
          <a:bodyPr wrap="square" rtlCol="0" anchor="ctr"/>
          <a:lstStyle/>
          <a:p>
            <a:pPr marL="0" indent="0">
              <a:buNone/>
            </a:pPr>
            <a:r>
              <a:rPr lang="en-US" sz="1000" b="1" dirty="0">
                <a:solidFill>
                  <a:srgbClr val="212121"/>
                </a:solidFill>
                <a:latin typeface="Calibri" pitchFamily="34" charset="0"/>
                <a:ea typeface="Calibri" pitchFamily="34" charset="-122"/>
                <a:cs typeface="Calibri" pitchFamily="34" charset="-120"/>
              </a:rPr>
              <a:t>PAY_3</a:t>
            </a:r>
            <a:endParaRPr lang="en-US" sz="1000" dirty="0"/>
          </a:p>
        </p:txBody>
      </p:sp>
      <p:sp>
        <p:nvSpPr>
          <p:cNvPr id="12" name="Text 10"/>
          <p:cNvSpPr/>
          <p:nvPr/>
        </p:nvSpPr>
        <p:spPr>
          <a:xfrm>
            <a:off x="2834640" y="2779776"/>
            <a:ext cx="1188720" cy="347472"/>
          </a:xfrm>
          <a:prstGeom prst="rect">
            <a:avLst/>
          </a:prstGeom>
          <a:noFill/>
          <a:ln/>
        </p:spPr>
        <p:txBody>
          <a:bodyPr wrap="square" rtlCol="0" anchor="ctr"/>
          <a:lstStyle/>
          <a:p>
            <a:pPr marL="0" indent="0">
              <a:buNone/>
            </a:pPr>
            <a:r>
              <a:rPr lang="en-US" sz="1000" dirty="0">
                <a:solidFill>
                  <a:srgbClr val="2E7D32"/>
                </a:solidFill>
                <a:latin typeface="Calibri" pitchFamily="34" charset="0"/>
                <a:ea typeface="Calibri" pitchFamily="34" charset="-122"/>
                <a:cs typeface="Calibri" pitchFamily="34" charset="-120"/>
              </a:rPr>
              <a:t>0.235</a:t>
            </a:r>
            <a:endParaRPr lang="en-US" sz="1000" dirty="0"/>
          </a:p>
        </p:txBody>
      </p:sp>
      <p:sp>
        <p:nvSpPr>
          <p:cNvPr id="13" name="Text 11"/>
          <p:cNvSpPr/>
          <p:nvPr/>
        </p:nvSpPr>
        <p:spPr>
          <a:xfrm>
            <a:off x="822960" y="3255264"/>
            <a:ext cx="2011680" cy="347472"/>
          </a:xfrm>
          <a:prstGeom prst="rect">
            <a:avLst/>
          </a:prstGeom>
          <a:noFill/>
          <a:ln/>
        </p:spPr>
        <p:txBody>
          <a:bodyPr wrap="square" rtlCol="0" anchor="ctr"/>
          <a:lstStyle/>
          <a:p>
            <a:pPr marL="0" indent="0">
              <a:buNone/>
            </a:pPr>
            <a:r>
              <a:rPr lang="en-US" sz="1000" b="1" dirty="0">
                <a:solidFill>
                  <a:srgbClr val="212121"/>
                </a:solidFill>
                <a:latin typeface="Calibri" pitchFamily="34" charset="0"/>
                <a:ea typeface="Calibri" pitchFamily="34" charset="-122"/>
                <a:cs typeface="Calibri" pitchFamily="34" charset="-120"/>
              </a:rPr>
              <a:t>LIMIT_BAL (credit limit)</a:t>
            </a:r>
            <a:endParaRPr lang="en-US" sz="1000" dirty="0"/>
          </a:p>
        </p:txBody>
      </p:sp>
      <p:sp>
        <p:nvSpPr>
          <p:cNvPr id="14" name="Text 12"/>
          <p:cNvSpPr/>
          <p:nvPr/>
        </p:nvSpPr>
        <p:spPr>
          <a:xfrm>
            <a:off x="2834640" y="3255264"/>
            <a:ext cx="1188720" cy="347472"/>
          </a:xfrm>
          <a:prstGeom prst="rect">
            <a:avLst/>
          </a:prstGeom>
          <a:noFill/>
          <a:ln/>
        </p:spPr>
        <p:txBody>
          <a:bodyPr wrap="square" rtlCol="0" anchor="ctr"/>
          <a:lstStyle/>
          <a:p>
            <a:pPr marL="0" indent="0">
              <a:buNone/>
            </a:pPr>
            <a:r>
              <a:rPr lang="en-US" sz="1000" dirty="0">
                <a:solidFill>
                  <a:srgbClr val="2E7D32"/>
                </a:solidFill>
                <a:latin typeface="Calibri" pitchFamily="34" charset="0"/>
                <a:ea typeface="Calibri" pitchFamily="34" charset="-122"/>
                <a:cs typeface="Calibri" pitchFamily="34" charset="-120"/>
              </a:rPr>
              <a:t>-0.154 (higher = safer)</a:t>
            </a:r>
            <a:endParaRPr lang="en-US" sz="1000" dirty="0"/>
          </a:p>
        </p:txBody>
      </p:sp>
      <p:sp>
        <p:nvSpPr>
          <p:cNvPr id="15" name="Text 13"/>
          <p:cNvSpPr/>
          <p:nvPr/>
        </p:nvSpPr>
        <p:spPr>
          <a:xfrm>
            <a:off x="822960" y="3730752"/>
            <a:ext cx="2011680" cy="347472"/>
          </a:xfrm>
          <a:prstGeom prst="rect">
            <a:avLst/>
          </a:prstGeom>
          <a:noFill/>
          <a:ln/>
        </p:spPr>
        <p:txBody>
          <a:bodyPr wrap="square" rtlCol="0" anchor="ctr"/>
          <a:lstStyle/>
          <a:p>
            <a:pPr marL="0" indent="0">
              <a:buNone/>
            </a:pPr>
            <a:r>
              <a:rPr lang="en-US" sz="1000" b="1" dirty="0">
                <a:solidFill>
                  <a:srgbClr val="212121"/>
                </a:solidFill>
                <a:latin typeface="Calibri" pitchFamily="34" charset="0"/>
                <a:ea typeface="Calibri" pitchFamily="34" charset="-122"/>
                <a:cs typeface="Calibri" pitchFamily="34" charset="-120"/>
              </a:rPr>
              <a:t>PAY_AMT1 (last payment)</a:t>
            </a:r>
            <a:endParaRPr lang="en-US" sz="1000" dirty="0"/>
          </a:p>
        </p:txBody>
      </p:sp>
      <p:sp>
        <p:nvSpPr>
          <p:cNvPr id="16" name="Text 14"/>
          <p:cNvSpPr/>
          <p:nvPr/>
        </p:nvSpPr>
        <p:spPr>
          <a:xfrm>
            <a:off x="2834640" y="3730752"/>
            <a:ext cx="1188720" cy="347472"/>
          </a:xfrm>
          <a:prstGeom prst="rect">
            <a:avLst/>
          </a:prstGeom>
          <a:noFill/>
          <a:ln/>
        </p:spPr>
        <p:txBody>
          <a:bodyPr wrap="square" rtlCol="0" anchor="ctr"/>
          <a:lstStyle/>
          <a:p>
            <a:pPr marL="0" indent="0">
              <a:buNone/>
            </a:pPr>
            <a:r>
              <a:rPr lang="en-US" sz="1000" dirty="0">
                <a:solidFill>
                  <a:srgbClr val="2E7D32"/>
                </a:solidFill>
                <a:latin typeface="Calibri" pitchFamily="34" charset="0"/>
                <a:ea typeface="Calibri" pitchFamily="34" charset="-122"/>
                <a:cs typeface="Calibri" pitchFamily="34" charset="-120"/>
              </a:rPr>
              <a:t>-0.073</a:t>
            </a:r>
            <a:endParaRPr lang="en-US" sz="1000" dirty="0"/>
          </a:p>
        </p:txBody>
      </p:sp>
      <p:sp>
        <p:nvSpPr>
          <p:cNvPr id="17" name="Text 15"/>
          <p:cNvSpPr/>
          <p:nvPr/>
        </p:nvSpPr>
        <p:spPr>
          <a:xfrm>
            <a:off x="822960" y="4206240"/>
            <a:ext cx="2011680" cy="347472"/>
          </a:xfrm>
          <a:prstGeom prst="rect">
            <a:avLst/>
          </a:prstGeom>
          <a:noFill/>
          <a:ln/>
        </p:spPr>
        <p:txBody>
          <a:bodyPr wrap="square" rtlCol="0" anchor="ctr"/>
          <a:lstStyle/>
          <a:p>
            <a:pPr marL="0" indent="0">
              <a:buNone/>
            </a:pPr>
            <a:r>
              <a:rPr lang="en-US" sz="1000" b="1" dirty="0">
                <a:solidFill>
                  <a:srgbClr val="212121"/>
                </a:solidFill>
                <a:latin typeface="Calibri" pitchFamily="34" charset="0"/>
                <a:ea typeface="Calibri" pitchFamily="34" charset="-122"/>
                <a:cs typeface="Calibri" pitchFamily="34" charset="-120"/>
              </a:rPr>
              <a:t>BILL_AMT1 (bill amount)</a:t>
            </a:r>
            <a:endParaRPr lang="en-US" sz="1000" dirty="0"/>
          </a:p>
        </p:txBody>
      </p:sp>
      <p:sp>
        <p:nvSpPr>
          <p:cNvPr id="18" name="Text 16"/>
          <p:cNvSpPr/>
          <p:nvPr/>
        </p:nvSpPr>
        <p:spPr>
          <a:xfrm>
            <a:off x="2834640" y="4206240"/>
            <a:ext cx="1188720" cy="347472"/>
          </a:xfrm>
          <a:prstGeom prst="rect">
            <a:avLst/>
          </a:prstGeom>
          <a:noFill/>
          <a:ln/>
        </p:spPr>
        <p:txBody>
          <a:bodyPr wrap="square" rtlCol="0" anchor="ctr"/>
          <a:lstStyle/>
          <a:p>
            <a:pPr marL="0" indent="0">
              <a:buNone/>
            </a:pPr>
            <a:r>
              <a:rPr lang="en-US" sz="1000" dirty="0">
                <a:solidFill>
                  <a:srgbClr val="2E7D32"/>
                </a:solidFill>
                <a:latin typeface="Calibri" pitchFamily="34" charset="0"/>
                <a:ea typeface="Calibri" pitchFamily="34" charset="-122"/>
                <a:cs typeface="Calibri" pitchFamily="34" charset="-120"/>
              </a:rPr>
              <a:t>-0.020 (very weak)</a:t>
            </a:r>
            <a:endParaRPr lang="en-US" sz="1000" dirty="0"/>
          </a:p>
        </p:txBody>
      </p:sp>
      <p:sp>
        <p:nvSpPr>
          <p:cNvPr id="19" name="Shape 17"/>
          <p:cNvSpPr/>
          <p:nvPr/>
        </p:nvSpPr>
        <p:spPr>
          <a:xfrm>
            <a:off x="4754880" y="1097280"/>
            <a:ext cx="3931920" cy="4572000"/>
          </a:xfrm>
          <a:prstGeom prst="rect">
            <a:avLst/>
          </a:prstGeom>
          <a:solidFill>
            <a:srgbClr val="F5F5F5"/>
          </a:solidFill>
          <a:ln w="12700">
            <a:solidFill>
              <a:srgbClr val="2E7D32"/>
            </a:solidFill>
            <a:prstDash val="solid"/>
          </a:ln>
        </p:spPr>
        <p:txBody>
          <a:bodyPr/>
          <a:lstStyle/>
          <a:p>
            <a:endParaRPr lang="en-US"/>
          </a:p>
        </p:txBody>
      </p:sp>
      <p:sp>
        <p:nvSpPr>
          <p:cNvPr id="20" name="Text 18"/>
          <p:cNvSpPr/>
          <p:nvPr/>
        </p:nvSpPr>
        <p:spPr>
          <a:xfrm>
            <a:off x="4937760" y="1234440"/>
            <a:ext cx="3566160" cy="274320"/>
          </a:xfrm>
          <a:prstGeom prst="rect">
            <a:avLst/>
          </a:prstGeom>
          <a:noFill/>
          <a:ln/>
        </p:spPr>
        <p:txBody>
          <a:bodyPr wrap="square"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Statistical Tests:</a:t>
            </a:r>
            <a:endParaRPr lang="en-US" sz="1100" dirty="0"/>
          </a:p>
        </p:txBody>
      </p:sp>
      <p:sp>
        <p:nvSpPr>
          <p:cNvPr id="21" name="Text 19"/>
          <p:cNvSpPr/>
          <p:nvPr/>
        </p:nvSpPr>
        <p:spPr>
          <a:xfrm>
            <a:off x="4937760" y="1600200"/>
            <a:ext cx="3566160" cy="256032"/>
          </a:xfrm>
          <a:prstGeom prst="rect">
            <a:avLst/>
          </a:prstGeom>
          <a:noFill/>
          <a:ln/>
        </p:spPr>
        <p:txBody>
          <a:bodyPr wrap="square" rtlCol="0" anchor="ctr"/>
          <a:lstStyle/>
          <a:p>
            <a:pPr marL="0" indent="0">
              <a:buNone/>
            </a:pPr>
            <a:r>
              <a:rPr lang="en-US" sz="1000" b="1" dirty="0">
                <a:solidFill>
                  <a:srgbClr val="212121"/>
                </a:solidFill>
                <a:latin typeface="Calibri" pitchFamily="34" charset="0"/>
                <a:ea typeface="Calibri" pitchFamily="34" charset="-122"/>
                <a:cs typeface="Calibri" pitchFamily="34" charset="-120"/>
              </a:rPr>
              <a:t>Chi-Square (for categorical):</a:t>
            </a:r>
            <a:endParaRPr lang="en-US" sz="1000" dirty="0"/>
          </a:p>
        </p:txBody>
      </p:sp>
      <p:sp>
        <p:nvSpPr>
          <p:cNvPr id="22" name="Text 20"/>
          <p:cNvSpPr/>
          <p:nvPr/>
        </p:nvSpPr>
        <p:spPr>
          <a:xfrm>
            <a:off x="5120640" y="1920240"/>
            <a:ext cx="3291840" cy="292608"/>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SEX: p &lt; 0.0001  ✓</a:t>
            </a:r>
            <a:endParaRPr lang="en-US" sz="1000" dirty="0"/>
          </a:p>
        </p:txBody>
      </p:sp>
      <p:sp>
        <p:nvSpPr>
          <p:cNvPr id="23" name="Text 21"/>
          <p:cNvSpPr/>
          <p:nvPr/>
        </p:nvSpPr>
        <p:spPr>
          <a:xfrm>
            <a:off x="5120640" y="2267712"/>
            <a:ext cx="3291840" cy="292608"/>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EDUCATION: p &lt; 0.0001  ✓</a:t>
            </a:r>
            <a:endParaRPr lang="en-US" sz="1000" dirty="0"/>
          </a:p>
        </p:txBody>
      </p:sp>
      <p:sp>
        <p:nvSpPr>
          <p:cNvPr id="24" name="Text 22"/>
          <p:cNvSpPr/>
          <p:nvPr/>
        </p:nvSpPr>
        <p:spPr>
          <a:xfrm>
            <a:off x="5120640" y="2615184"/>
            <a:ext cx="3291840" cy="292608"/>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MARRIAGE: p &lt; 0.0001  ✓</a:t>
            </a:r>
            <a:endParaRPr lang="en-US" sz="1000" dirty="0"/>
          </a:p>
        </p:txBody>
      </p:sp>
      <p:sp>
        <p:nvSpPr>
          <p:cNvPr id="25" name="Text 23"/>
          <p:cNvSpPr/>
          <p:nvPr/>
        </p:nvSpPr>
        <p:spPr>
          <a:xfrm>
            <a:off x="4937760" y="3063240"/>
            <a:ext cx="3566160" cy="256032"/>
          </a:xfrm>
          <a:prstGeom prst="rect">
            <a:avLst/>
          </a:prstGeom>
          <a:noFill/>
          <a:ln/>
        </p:spPr>
        <p:txBody>
          <a:bodyPr wrap="square" rtlCol="0" anchor="ctr"/>
          <a:lstStyle/>
          <a:p>
            <a:pPr marL="0" indent="0">
              <a:buNone/>
            </a:pPr>
            <a:r>
              <a:rPr lang="en-US" sz="1000" b="1" dirty="0">
                <a:solidFill>
                  <a:srgbClr val="212121"/>
                </a:solidFill>
                <a:latin typeface="Calibri" pitchFamily="34" charset="0"/>
                <a:ea typeface="Calibri" pitchFamily="34" charset="-122"/>
                <a:cs typeface="Calibri" pitchFamily="34" charset="-120"/>
              </a:rPr>
              <a:t>ANOVA (for numerical):</a:t>
            </a:r>
            <a:endParaRPr lang="en-US" sz="1000" dirty="0"/>
          </a:p>
        </p:txBody>
      </p:sp>
      <p:sp>
        <p:nvSpPr>
          <p:cNvPr id="26" name="Text 24"/>
          <p:cNvSpPr/>
          <p:nvPr/>
        </p:nvSpPr>
        <p:spPr>
          <a:xfrm>
            <a:off x="5120640" y="3383280"/>
            <a:ext cx="3291840" cy="292608"/>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LIMIT_BAL: F = 724  ✓  (very strong)</a:t>
            </a:r>
            <a:endParaRPr lang="en-US" sz="1000" dirty="0"/>
          </a:p>
        </p:txBody>
      </p:sp>
      <p:sp>
        <p:nvSpPr>
          <p:cNvPr id="27" name="Text 25"/>
          <p:cNvSpPr/>
          <p:nvPr/>
        </p:nvSpPr>
        <p:spPr>
          <a:xfrm>
            <a:off x="5120640" y="3730752"/>
            <a:ext cx="3291840" cy="292608"/>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AGE: F = 5.8  ✓</a:t>
            </a:r>
            <a:endParaRPr lang="en-US" sz="1000" dirty="0"/>
          </a:p>
        </p:txBody>
      </p:sp>
      <p:sp>
        <p:nvSpPr>
          <p:cNvPr id="28" name="Text 26"/>
          <p:cNvSpPr/>
          <p:nvPr/>
        </p:nvSpPr>
        <p:spPr>
          <a:xfrm>
            <a:off x="5120640" y="4078224"/>
            <a:ext cx="3291840" cy="292608"/>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BILL_AMT1: F = 11.6  ✓</a:t>
            </a:r>
            <a:endParaRPr lang="en-US" sz="1000" dirty="0"/>
          </a:p>
        </p:txBody>
      </p:sp>
      <p:sp>
        <p:nvSpPr>
          <p:cNvPr id="29" name="Text 27"/>
          <p:cNvSpPr/>
          <p:nvPr/>
        </p:nvSpPr>
        <p:spPr>
          <a:xfrm>
            <a:off x="4937760" y="4572000"/>
            <a:ext cx="3566160" cy="320040"/>
          </a:xfrm>
          <a:prstGeom prst="rect">
            <a:avLst/>
          </a:prstGeom>
          <a:noFill/>
          <a:ln/>
        </p:spPr>
        <p:txBody>
          <a:bodyPr wrap="square" rtlCol="0" anchor="ctr"/>
          <a:lstStyle/>
          <a:p>
            <a:pPr marL="0" indent="0">
              <a:buNone/>
            </a:pPr>
            <a:r>
              <a:rPr lang="en-US" sz="1000" b="1" i="1" dirty="0">
                <a:solidFill>
                  <a:srgbClr val="2E7D32"/>
                </a:solidFill>
                <a:latin typeface="Calibri" pitchFamily="34" charset="0"/>
                <a:ea typeface="Calibri" pitchFamily="34" charset="-122"/>
                <a:cs typeface="Calibri" pitchFamily="34" charset="-120"/>
              </a:rPr>
              <a:t>All features are significant predictors (p &lt; 0.05)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3A5F"/>
          </a:solidFill>
          <a:ln/>
        </p:spPr>
        <p:txBody>
          <a:bodyPr/>
          <a:lstStyle/>
          <a:p>
            <a:endParaRPr lang="en-US"/>
          </a:p>
        </p:txBody>
      </p:sp>
      <p:sp>
        <p:nvSpPr>
          <p:cNvPr id="3" name="Text 1"/>
          <p:cNvSpPr/>
          <p:nvPr/>
        </p:nvSpPr>
        <p:spPr>
          <a:xfrm>
            <a:off x="457200" y="182880"/>
            <a:ext cx="82296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Final Features &amp; Feature Engineering</a:t>
            </a:r>
            <a:endParaRPr lang="en-US" sz="2800" dirty="0"/>
          </a:p>
        </p:txBody>
      </p:sp>
      <p:sp>
        <p:nvSpPr>
          <p:cNvPr id="4" name="Shape 2"/>
          <p:cNvSpPr/>
          <p:nvPr/>
        </p:nvSpPr>
        <p:spPr>
          <a:xfrm>
            <a:off x="457200" y="1097280"/>
            <a:ext cx="3931920" cy="4572000"/>
          </a:xfrm>
          <a:prstGeom prst="rect">
            <a:avLst/>
          </a:prstGeom>
          <a:solidFill>
            <a:srgbClr val="F5F5F5"/>
          </a:solidFill>
          <a:ln w="12700">
            <a:solidFill>
              <a:srgbClr val="2E7D32"/>
            </a:solidFill>
            <a:prstDash val="solid"/>
          </a:ln>
        </p:spPr>
        <p:txBody>
          <a:bodyPr/>
          <a:lstStyle/>
          <a:p>
            <a:endParaRPr lang="en-US"/>
          </a:p>
        </p:txBody>
      </p:sp>
      <p:sp>
        <p:nvSpPr>
          <p:cNvPr id="5" name="Text 3"/>
          <p:cNvSpPr/>
          <p:nvPr/>
        </p:nvSpPr>
        <p:spPr>
          <a:xfrm>
            <a:off x="640080" y="1234440"/>
            <a:ext cx="3566160" cy="274320"/>
          </a:xfrm>
          <a:prstGeom prst="rect">
            <a:avLst/>
          </a:prstGeom>
          <a:noFill/>
          <a:ln/>
        </p:spPr>
        <p:txBody>
          <a:bodyPr wrap="square"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Final Features Kept:</a:t>
            </a:r>
            <a:endParaRPr lang="en-US" sz="1200" dirty="0"/>
          </a:p>
        </p:txBody>
      </p:sp>
      <p:sp>
        <p:nvSpPr>
          <p:cNvPr id="6" name="Text 4"/>
          <p:cNvSpPr/>
          <p:nvPr/>
        </p:nvSpPr>
        <p:spPr>
          <a:xfrm>
            <a:off x="640080" y="1508760"/>
            <a:ext cx="3566160" cy="228600"/>
          </a:xfrm>
          <a:prstGeom prst="rect">
            <a:avLst/>
          </a:prstGeom>
          <a:noFill/>
          <a:ln/>
        </p:spPr>
        <p:txBody>
          <a:bodyPr wrap="square" rtlCol="0" anchor="ctr"/>
          <a:lstStyle/>
          <a:p>
            <a:pPr marL="0" indent="0">
              <a:buNone/>
            </a:pPr>
            <a:r>
              <a:rPr lang="en-US" sz="900" i="1" dirty="0">
                <a:solidFill>
                  <a:srgbClr val="212121"/>
                </a:solidFill>
                <a:latin typeface="Calibri" pitchFamily="34" charset="0"/>
                <a:ea typeface="Calibri" pitchFamily="34" charset="-122"/>
                <a:cs typeface="Calibri" pitchFamily="34" charset="-120"/>
              </a:rPr>
              <a:t>(After removing ID and fixing encoding)</a:t>
            </a:r>
            <a:endParaRPr lang="en-US" sz="900" dirty="0"/>
          </a:p>
        </p:txBody>
      </p:sp>
      <p:sp>
        <p:nvSpPr>
          <p:cNvPr id="7" name="Text 5"/>
          <p:cNvSpPr/>
          <p:nvPr/>
        </p:nvSpPr>
        <p:spPr>
          <a:xfrm>
            <a:off x="822960" y="1874520"/>
            <a:ext cx="1645920" cy="320040"/>
          </a:xfrm>
          <a:prstGeom prst="rect">
            <a:avLst/>
          </a:prstGeom>
          <a:noFill/>
          <a:ln/>
        </p:spPr>
        <p:txBody>
          <a:bodyPr wrap="square" rtlCol="0" anchor="ctr"/>
          <a:lstStyle/>
          <a:p>
            <a:pPr marL="0" indent="0">
              <a:buNone/>
            </a:pPr>
            <a:r>
              <a:rPr lang="en-US" sz="1000" b="1" dirty="0">
                <a:solidFill>
                  <a:srgbClr val="212121"/>
                </a:solidFill>
                <a:latin typeface="Calibri" pitchFamily="34" charset="0"/>
                <a:ea typeface="Calibri" pitchFamily="34" charset="-122"/>
                <a:cs typeface="Calibri" pitchFamily="34" charset="-120"/>
              </a:rPr>
              <a:t>Demographics (3)</a:t>
            </a:r>
            <a:endParaRPr lang="en-US" sz="1000" dirty="0"/>
          </a:p>
        </p:txBody>
      </p:sp>
      <p:sp>
        <p:nvSpPr>
          <p:cNvPr id="8" name="Text 6"/>
          <p:cNvSpPr/>
          <p:nvPr/>
        </p:nvSpPr>
        <p:spPr>
          <a:xfrm>
            <a:off x="2468880" y="1874520"/>
            <a:ext cx="1645920" cy="320040"/>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SEX, EDUCATION, MARRIAGE</a:t>
            </a:r>
            <a:endParaRPr lang="en-US" sz="1000" dirty="0"/>
          </a:p>
        </p:txBody>
      </p:sp>
      <p:sp>
        <p:nvSpPr>
          <p:cNvPr id="9" name="Text 7"/>
          <p:cNvSpPr/>
          <p:nvPr/>
        </p:nvSpPr>
        <p:spPr>
          <a:xfrm>
            <a:off x="822960" y="2404872"/>
            <a:ext cx="1645920" cy="320040"/>
          </a:xfrm>
          <a:prstGeom prst="rect">
            <a:avLst/>
          </a:prstGeom>
          <a:noFill/>
          <a:ln/>
        </p:spPr>
        <p:txBody>
          <a:bodyPr wrap="square" rtlCol="0" anchor="ctr"/>
          <a:lstStyle/>
          <a:p>
            <a:pPr marL="0" indent="0">
              <a:buNone/>
            </a:pPr>
            <a:r>
              <a:rPr lang="en-US" sz="1000" b="1" dirty="0">
                <a:solidFill>
                  <a:srgbClr val="212121"/>
                </a:solidFill>
                <a:latin typeface="Calibri" pitchFamily="34" charset="0"/>
                <a:ea typeface="Calibri" pitchFamily="34" charset="-122"/>
                <a:cs typeface="Calibri" pitchFamily="34" charset="-120"/>
              </a:rPr>
              <a:t>Credit Info (2)</a:t>
            </a:r>
            <a:endParaRPr lang="en-US" sz="1000" dirty="0"/>
          </a:p>
        </p:txBody>
      </p:sp>
      <p:sp>
        <p:nvSpPr>
          <p:cNvPr id="10" name="Text 8"/>
          <p:cNvSpPr/>
          <p:nvPr/>
        </p:nvSpPr>
        <p:spPr>
          <a:xfrm>
            <a:off x="2468880" y="2404872"/>
            <a:ext cx="1645920" cy="320040"/>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LIMIT_BAL, AGE</a:t>
            </a:r>
            <a:endParaRPr lang="en-US" sz="1000" dirty="0"/>
          </a:p>
        </p:txBody>
      </p:sp>
      <p:sp>
        <p:nvSpPr>
          <p:cNvPr id="11" name="Text 9"/>
          <p:cNvSpPr/>
          <p:nvPr/>
        </p:nvSpPr>
        <p:spPr>
          <a:xfrm>
            <a:off x="822960" y="2935224"/>
            <a:ext cx="1645920" cy="320040"/>
          </a:xfrm>
          <a:prstGeom prst="rect">
            <a:avLst/>
          </a:prstGeom>
          <a:noFill/>
          <a:ln/>
        </p:spPr>
        <p:txBody>
          <a:bodyPr wrap="square" rtlCol="0" anchor="ctr"/>
          <a:lstStyle/>
          <a:p>
            <a:pPr marL="0" indent="0">
              <a:buNone/>
            </a:pPr>
            <a:r>
              <a:rPr lang="en-US" sz="1000" b="1" dirty="0">
                <a:solidFill>
                  <a:srgbClr val="212121"/>
                </a:solidFill>
                <a:latin typeface="Calibri" pitchFamily="34" charset="0"/>
                <a:ea typeface="Calibri" pitchFamily="34" charset="-122"/>
                <a:cs typeface="Calibri" pitchFamily="34" charset="-120"/>
              </a:rPr>
              <a:t>Payment Status (6)</a:t>
            </a:r>
            <a:endParaRPr lang="en-US" sz="1000" dirty="0"/>
          </a:p>
        </p:txBody>
      </p:sp>
      <p:sp>
        <p:nvSpPr>
          <p:cNvPr id="12" name="Text 10"/>
          <p:cNvSpPr/>
          <p:nvPr/>
        </p:nvSpPr>
        <p:spPr>
          <a:xfrm>
            <a:off x="2468880" y="2935224"/>
            <a:ext cx="1645920" cy="320040"/>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PAY_0, PAY_2 → PAY_6</a:t>
            </a:r>
            <a:endParaRPr lang="en-US" sz="1000" dirty="0"/>
          </a:p>
        </p:txBody>
      </p:sp>
      <p:sp>
        <p:nvSpPr>
          <p:cNvPr id="13" name="Text 11"/>
          <p:cNvSpPr/>
          <p:nvPr/>
        </p:nvSpPr>
        <p:spPr>
          <a:xfrm>
            <a:off x="822960" y="3465576"/>
            <a:ext cx="1645920" cy="320040"/>
          </a:xfrm>
          <a:prstGeom prst="rect">
            <a:avLst/>
          </a:prstGeom>
          <a:noFill/>
          <a:ln/>
        </p:spPr>
        <p:txBody>
          <a:bodyPr wrap="square" rtlCol="0" anchor="ctr"/>
          <a:lstStyle/>
          <a:p>
            <a:pPr marL="0" indent="0">
              <a:buNone/>
            </a:pPr>
            <a:r>
              <a:rPr lang="en-US" sz="1000" b="1" dirty="0">
                <a:solidFill>
                  <a:srgbClr val="212121"/>
                </a:solidFill>
                <a:latin typeface="Calibri" pitchFamily="34" charset="0"/>
                <a:ea typeface="Calibri" pitchFamily="34" charset="-122"/>
                <a:cs typeface="Calibri" pitchFamily="34" charset="-120"/>
              </a:rPr>
              <a:t>Bill Amounts (6)</a:t>
            </a:r>
            <a:endParaRPr lang="en-US" sz="1000" dirty="0"/>
          </a:p>
        </p:txBody>
      </p:sp>
      <p:sp>
        <p:nvSpPr>
          <p:cNvPr id="14" name="Text 12"/>
          <p:cNvSpPr/>
          <p:nvPr/>
        </p:nvSpPr>
        <p:spPr>
          <a:xfrm>
            <a:off x="2468880" y="3465576"/>
            <a:ext cx="1645920" cy="320040"/>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BILL_AMT1 → BILL_AMT6</a:t>
            </a:r>
            <a:endParaRPr lang="en-US" sz="1000" dirty="0"/>
          </a:p>
        </p:txBody>
      </p:sp>
      <p:sp>
        <p:nvSpPr>
          <p:cNvPr id="15" name="Text 13"/>
          <p:cNvSpPr/>
          <p:nvPr/>
        </p:nvSpPr>
        <p:spPr>
          <a:xfrm>
            <a:off x="822960" y="3995928"/>
            <a:ext cx="1645920" cy="320040"/>
          </a:xfrm>
          <a:prstGeom prst="rect">
            <a:avLst/>
          </a:prstGeom>
          <a:noFill/>
          <a:ln/>
        </p:spPr>
        <p:txBody>
          <a:bodyPr wrap="square" rtlCol="0" anchor="ctr"/>
          <a:lstStyle/>
          <a:p>
            <a:pPr marL="0" indent="0">
              <a:buNone/>
            </a:pPr>
            <a:r>
              <a:rPr lang="en-US" sz="1000" b="1" dirty="0">
                <a:solidFill>
                  <a:srgbClr val="212121"/>
                </a:solidFill>
                <a:latin typeface="Calibri" pitchFamily="34" charset="0"/>
                <a:ea typeface="Calibri" pitchFamily="34" charset="-122"/>
                <a:cs typeface="Calibri" pitchFamily="34" charset="-120"/>
              </a:rPr>
              <a:t>Payment Amounts (6)</a:t>
            </a:r>
            <a:endParaRPr lang="en-US" sz="1000" dirty="0"/>
          </a:p>
        </p:txBody>
      </p:sp>
      <p:sp>
        <p:nvSpPr>
          <p:cNvPr id="16" name="Text 14"/>
          <p:cNvSpPr/>
          <p:nvPr/>
        </p:nvSpPr>
        <p:spPr>
          <a:xfrm>
            <a:off x="2468880" y="3995928"/>
            <a:ext cx="1645920" cy="320040"/>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PAY_AMT1 → PAY_AMT6</a:t>
            </a:r>
            <a:endParaRPr lang="en-US" sz="1000" dirty="0"/>
          </a:p>
        </p:txBody>
      </p:sp>
      <p:sp>
        <p:nvSpPr>
          <p:cNvPr id="17" name="Text 15"/>
          <p:cNvSpPr/>
          <p:nvPr/>
        </p:nvSpPr>
        <p:spPr>
          <a:xfrm>
            <a:off x="640080" y="4526280"/>
            <a:ext cx="3566160" cy="274320"/>
          </a:xfrm>
          <a:prstGeom prst="rect">
            <a:avLst/>
          </a:prstGeom>
          <a:noFill/>
          <a:ln/>
        </p:spPr>
        <p:txBody>
          <a:bodyPr wrap="square" rtlCol="0" anchor="ctr"/>
          <a:lstStyle/>
          <a:p>
            <a:pPr marL="0" indent="0">
              <a:buNone/>
            </a:pPr>
            <a:r>
              <a:rPr lang="en-US" sz="1000" b="1" dirty="0">
                <a:solidFill>
                  <a:srgbClr val="2E7D32"/>
                </a:solidFill>
                <a:latin typeface="Calibri" pitchFamily="34" charset="0"/>
                <a:ea typeface="Calibri" pitchFamily="34" charset="-122"/>
                <a:cs typeface="Calibri" pitchFamily="34" charset="-120"/>
              </a:rPr>
              <a:t>Total: 23 features used for modeling</a:t>
            </a:r>
            <a:endParaRPr lang="en-US" sz="1000" dirty="0"/>
          </a:p>
        </p:txBody>
      </p:sp>
      <p:sp>
        <p:nvSpPr>
          <p:cNvPr id="18" name="Shape 16"/>
          <p:cNvSpPr/>
          <p:nvPr/>
        </p:nvSpPr>
        <p:spPr>
          <a:xfrm>
            <a:off x="4754880" y="1097280"/>
            <a:ext cx="3931920" cy="4572000"/>
          </a:xfrm>
          <a:prstGeom prst="rect">
            <a:avLst/>
          </a:prstGeom>
          <a:solidFill>
            <a:srgbClr val="F5F5F5"/>
          </a:solidFill>
          <a:ln w="12700">
            <a:solidFill>
              <a:srgbClr val="2E7D32"/>
            </a:solidFill>
            <a:prstDash val="solid"/>
          </a:ln>
        </p:spPr>
        <p:txBody>
          <a:bodyPr/>
          <a:lstStyle/>
          <a:p>
            <a:endParaRPr lang="en-US"/>
          </a:p>
        </p:txBody>
      </p:sp>
      <p:sp>
        <p:nvSpPr>
          <p:cNvPr id="19" name="Text 17"/>
          <p:cNvSpPr/>
          <p:nvPr/>
        </p:nvSpPr>
        <p:spPr>
          <a:xfrm>
            <a:off x="4937760" y="1234440"/>
            <a:ext cx="3566160" cy="274320"/>
          </a:xfrm>
          <a:prstGeom prst="rect">
            <a:avLst/>
          </a:prstGeom>
          <a:noFill/>
          <a:ln/>
        </p:spPr>
        <p:txBody>
          <a:bodyPr wrap="square"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Feature Engineering:</a:t>
            </a:r>
            <a:endParaRPr lang="en-US" sz="1200" dirty="0"/>
          </a:p>
        </p:txBody>
      </p:sp>
      <p:sp>
        <p:nvSpPr>
          <p:cNvPr id="20" name="Text 18"/>
          <p:cNvSpPr/>
          <p:nvPr/>
        </p:nvSpPr>
        <p:spPr>
          <a:xfrm>
            <a:off x="4937760" y="1508760"/>
            <a:ext cx="3566160" cy="228600"/>
          </a:xfrm>
          <a:prstGeom prst="rect">
            <a:avLst/>
          </a:prstGeom>
          <a:noFill/>
          <a:ln/>
        </p:spPr>
        <p:txBody>
          <a:bodyPr wrap="square" rtlCol="0" anchor="ctr"/>
          <a:lstStyle/>
          <a:p>
            <a:pPr marL="0" indent="0">
              <a:buNone/>
            </a:pPr>
            <a:r>
              <a:rPr lang="en-US" sz="900" i="1" dirty="0">
                <a:solidFill>
                  <a:srgbClr val="212121"/>
                </a:solidFill>
                <a:latin typeface="Calibri" pitchFamily="34" charset="0"/>
                <a:ea typeface="Calibri" pitchFamily="34" charset="-122"/>
                <a:cs typeface="Calibri" pitchFamily="34" charset="-120"/>
              </a:rPr>
              <a:t>New features created from existing ones:</a:t>
            </a:r>
            <a:endParaRPr lang="en-US" sz="900" dirty="0"/>
          </a:p>
        </p:txBody>
      </p:sp>
      <p:sp>
        <p:nvSpPr>
          <p:cNvPr id="21" name="Text 19"/>
          <p:cNvSpPr/>
          <p:nvPr/>
        </p:nvSpPr>
        <p:spPr>
          <a:xfrm>
            <a:off x="5029200" y="1874520"/>
            <a:ext cx="1737360" cy="256032"/>
          </a:xfrm>
          <a:prstGeom prst="rect">
            <a:avLst/>
          </a:prstGeom>
          <a:noFill/>
          <a:ln/>
        </p:spPr>
        <p:txBody>
          <a:bodyPr wrap="square" rtlCol="0" anchor="ctr"/>
          <a:lstStyle/>
          <a:p>
            <a:pPr marL="0" indent="0">
              <a:buNone/>
            </a:pPr>
            <a:r>
              <a:rPr lang="en-US" sz="1000" b="1" dirty="0">
                <a:solidFill>
                  <a:srgbClr val="2E7D32"/>
                </a:solidFill>
                <a:latin typeface="Calibri" pitchFamily="34" charset="0"/>
                <a:ea typeface="Calibri" pitchFamily="34" charset="-122"/>
                <a:cs typeface="Calibri" pitchFamily="34" charset="-120"/>
              </a:rPr>
              <a:t>avg_pay_delay</a:t>
            </a:r>
            <a:endParaRPr lang="en-US" sz="1000" dirty="0"/>
          </a:p>
        </p:txBody>
      </p:sp>
      <p:sp>
        <p:nvSpPr>
          <p:cNvPr id="22" name="Text 20"/>
          <p:cNvSpPr/>
          <p:nvPr/>
        </p:nvSpPr>
        <p:spPr>
          <a:xfrm>
            <a:off x="5029200" y="2130552"/>
            <a:ext cx="3383280" cy="256032"/>
          </a:xfrm>
          <a:prstGeom prst="rect">
            <a:avLst/>
          </a:prstGeom>
          <a:noFill/>
          <a:ln/>
        </p:spPr>
        <p:txBody>
          <a:bodyPr wrap="square" rtlCol="0" anchor="ctr"/>
          <a:lstStyle/>
          <a:p>
            <a:pPr marL="0" indent="0">
              <a:buNone/>
            </a:pPr>
            <a:r>
              <a:rPr lang="en-US" sz="900" dirty="0">
                <a:solidFill>
                  <a:srgbClr val="212121"/>
                </a:solidFill>
                <a:latin typeface="Calibri" pitchFamily="34" charset="0"/>
                <a:ea typeface="Calibri" pitchFamily="34" charset="-122"/>
                <a:cs typeface="Calibri" pitchFamily="34" charset="-120"/>
              </a:rPr>
              <a:t>Average payment delay across 6 months</a:t>
            </a:r>
            <a:endParaRPr lang="en-US" sz="900" dirty="0"/>
          </a:p>
        </p:txBody>
      </p:sp>
      <p:sp>
        <p:nvSpPr>
          <p:cNvPr id="23" name="Text 21"/>
          <p:cNvSpPr/>
          <p:nvPr/>
        </p:nvSpPr>
        <p:spPr>
          <a:xfrm>
            <a:off x="5029200" y="2404872"/>
            <a:ext cx="1737360" cy="256032"/>
          </a:xfrm>
          <a:prstGeom prst="rect">
            <a:avLst/>
          </a:prstGeom>
          <a:noFill/>
          <a:ln/>
        </p:spPr>
        <p:txBody>
          <a:bodyPr wrap="square" rtlCol="0" anchor="ctr"/>
          <a:lstStyle/>
          <a:p>
            <a:pPr marL="0" indent="0">
              <a:buNone/>
            </a:pPr>
            <a:r>
              <a:rPr lang="en-US" sz="1000" b="1" dirty="0">
                <a:solidFill>
                  <a:srgbClr val="2E7D32"/>
                </a:solidFill>
                <a:latin typeface="Calibri" pitchFamily="34" charset="0"/>
                <a:ea typeface="Calibri" pitchFamily="34" charset="-122"/>
                <a:cs typeface="Calibri" pitchFamily="34" charset="-120"/>
              </a:rPr>
              <a:t>avg_bill_amt</a:t>
            </a:r>
            <a:endParaRPr lang="en-US" sz="1000" dirty="0"/>
          </a:p>
        </p:txBody>
      </p:sp>
      <p:sp>
        <p:nvSpPr>
          <p:cNvPr id="24" name="Text 22"/>
          <p:cNvSpPr/>
          <p:nvPr/>
        </p:nvSpPr>
        <p:spPr>
          <a:xfrm>
            <a:off x="5029200" y="2660904"/>
            <a:ext cx="3383280" cy="256032"/>
          </a:xfrm>
          <a:prstGeom prst="rect">
            <a:avLst/>
          </a:prstGeom>
          <a:noFill/>
          <a:ln/>
        </p:spPr>
        <p:txBody>
          <a:bodyPr wrap="square" rtlCol="0" anchor="ctr"/>
          <a:lstStyle/>
          <a:p>
            <a:pPr marL="0" indent="0">
              <a:buNone/>
            </a:pPr>
            <a:r>
              <a:rPr lang="en-US" sz="900" dirty="0">
                <a:solidFill>
                  <a:srgbClr val="212121"/>
                </a:solidFill>
                <a:latin typeface="Calibri" pitchFamily="34" charset="0"/>
                <a:ea typeface="Calibri" pitchFamily="34" charset="-122"/>
                <a:cs typeface="Calibri" pitchFamily="34" charset="-120"/>
              </a:rPr>
              <a:t>Average bill amount across 6 months</a:t>
            </a:r>
            <a:endParaRPr lang="en-US" sz="900" dirty="0"/>
          </a:p>
        </p:txBody>
      </p:sp>
      <p:sp>
        <p:nvSpPr>
          <p:cNvPr id="25" name="Text 23"/>
          <p:cNvSpPr/>
          <p:nvPr/>
        </p:nvSpPr>
        <p:spPr>
          <a:xfrm>
            <a:off x="5029200" y="2935224"/>
            <a:ext cx="1737360" cy="256032"/>
          </a:xfrm>
          <a:prstGeom prst="rect">
            <a:avLst/>
          </a:prstGeom>
          <a:noFill/>
          <a:ln/>
        </p:spPr>
        <p:txBody>
          <a:bodyPr wrap="square" rtlCol="0" anchor="ctr"/>
          <a:lstStyle/>
          <a:p>
            <a:pPr marL="0" indent="0">
              <a:buNone/>
            </a:pPr>
            <a:r>
              <a:rPr lang="en-US" sz="1000" b="1" dirty="0">
                <a:solidFill>
                  <a:srgbClr val="2E7D32"/>
                </a:solidFill>
                <a:latin typeface="Calibri" pitchFamily="34" charset="0"/>
                <a:ea typeface="Calibri" pitchFamily="34" charset="-122"/>
                <a:cs typeface="Calibri" pitchFamily="34" charset="-120"/>
              </a:rPr>
              <a:t>avg_pay_amt</a:t>
            </a:r>
            <a:endParaRPr lang="en-US" sz="1000" dirty="0"/>
          </a:p>
        </p:txBody>
      </p:sp>
      <p:sp>
        <p:nvSpPr>
          <p:cNvPr id="26" name="Text 24"/>
          <p:cNvSpPr/>
          <p:nvPr/>
        </p:nvSpPr>
        <p:spPr>
          <a:xfrm>
            <a:off x="5029200" y="3191256"/>
            <a:ext cx="3383280" cy="256032"/>
          </a:xfrm>
          <a:prstGeom prst="rect">
            <a:avLst/>
          </a:prstGeom>
          <a:noFill/>
          <a:ln/>
        </p:spPr>
        <p:txBody>
          <a:bodyPr wrap="square" rtlCol="0" anchor="ctr"/>
          <a:lstStyle/>
          <a:p>
            <a:pPr marL="0" indent="0">
              <a:buNone/>
            </a:pPr>
            <a:r>
              <a:rPr lang="en-US" sz="900" dirty="0">
                <a:solidFill>
                  <a:srgbClr val="212121"/>
                </a:solidFill>
                <a:latin typeface="Calibri" pitchFamily="34" charset="0"/>
                <a:ea typeface="Calibri" pitchFamily="34" charset="-122"/>
                <a:cs typeface="Calibri" pitchFamily="34" charset="-120"/>
              </a:rPr>
              <a:t>Average payment made across 6 months</a:t>
            </a:r>
            <a:endParaRPr lang="en-US" sz="900" dirty="0"/>
          </a:p>
        </p:txBody>
      </p:sp>
      <p:sp>
        <p:nvSpPr>
          <p:cNvPr id="27" name="Text 25"/>
          <p:cNvSpPr/>
          <p:nvPr/>
        </p:nvSpPr>
        <p:spPr>
          <a:xfrm>
            <a:off x="5029200" y="3465576"/>
            <a:ext cx="1737360" cy="256032"/>
          </a:xfrm>
          <a:prstGeom prst="rect">
            <a:avLst/>
          </a:prstGeom>
          <a:noFill/>
          <a:ln/>
        </p:spPr>
        <p:txBody>
          <a:bodyPr wrap="square" rtlCol="0" anchor="ctr"/>
          <a:lstStyle/>
          <a:p>
            <a:pPr marL="0" indent="0">
              <a:buNone/>
            </a:pPr>
            <a:r>
              <a:rPr lang="en-US" sz="1000" b="1" dirty="0">
                <a:solidFill>
                  <a:srgbClr val="2E7D32"/>
                </a:solidFill>
                <a:latin typeface="Calibri" pitchFamily="34" charset="0"/>
                <a:ea typeface="Calibri" pitchFamily="34" charset="-122"/>
                <a:cs typeface="Calibri" pitchFamily="34" charset="-120"/>
              </a:rPr>
              <a:t>pay_to_bill_ratio</a:t>
            </a:r>
            <a:endParaRPr lang="en-US" sz="1000" dirty="0"/>
          </a:p>
        </p:txBody>
      </p:sp>
      <p:sp>
        <p:nvSpPr>
          <p:cNvPr id="28" name="Text 26"/>
          <p:cNvSpPr/>
          <p:nvPr/>
        </p:nvSpPr>
        <p:spPr>
          <a:xfrm>
            <a:off x="5029200" y="3721608"/>
            <a:ext cx="3383280" cy="256032"/>
          </a:xfrm>
          <a:prstGeom prst="rect">
            <a:avLst/>
          </a:prstGeom>
          <a:noFill/>
          <a:ln/>
        </p:spPr>
        <p:txBody>
          <a:bodyPr wrap="square" rtlCol="0" anchor="ctr"/>
          <a:lstStyle/>
          <a:p>
            <a:pPr marL="0" indent="0">
              <a:buNone/>
            </a:pPr>
            <a:r>
              <a:rPr lang="en-US" sz="900" dirty="0">
                <a:solidFill>
                  <a:srgbClr val="212121"/>
                </a:solidFill>
                <a:latin typeface="Calibri" pitchFamily="34" charset="0"/>
                <a:ea typeface="Calibri" pitchFamily="34" charset="-122"/>
                <a:cs typeface="Calibri" pitchFamily="34" charset="-120"/>
              </a:rPr>
              <a:t>How much of the bill was paid on average</a:t>
            </a:r>
            <a:endParaRPr lang="en-US" sz="900" dirty="0"/>
          </a:p>
        </p:txBody>
      </p:sp>
      <p:sp>
        <p:nvSpPr>
          <p:cNvPr id="29" name="Text 27"/>
          <p:cNvSpPr/>
          <p:nvPr/>
        </p:nvSpPr>
        <p:spPr>
          <a:xfrm>
            <a:off x="5029200" y="3995928"/>
            <a:ext cx="1737360" cy="256032"/>
          </a:xfrm>
          <a:prstGeom prst="rect">
            <a:avLst/>
          </a:prstGeom>
          <a:noFill/>
          <a:ln/>
        </p:spPr>
        <p:txBody>
          <a:bodyPr wrap="square" rtlCol="0" anchor="ctr"/>
          <a:lstStyle/>
          <a:p>
            <a:pPr marL="0" indent="0">
              <a:buNone/>
            </a:pPr>
            <a:r>
              <a:rPr lang="en-US" sz="1000" b="1" dirty="0">
                <a:solidFill>
                  <a:srgbClr val="2E7D32"/>
                </a:solidFill>
                <a:latin typeface="Calibri" pitchFamily="34" charset="0"/>
                <a:ea typeface="Calibri" pitchFamily="34" charset="-122"/>
                <a:cs typeface="Calibri" pitchFamily="34" charset="-120"/>
              </a:rPr>
              <a:t>total_delay_months</a:t>
            </a:r>
            <a:endParaRPr lang="en-US" sz="1000" dirty="0"/>
          </a:p>
        </p:txBody>
      </p:sp>
      <p:sp>
        <p:nvSpPr>
          <p:cNvPr id="30" name="Text 28"/>
          <p:cNvSpPr/>
          <p:nvPr/>
        </p:nvSpPr>
        <p:spPr>
          <a:xfrm>
            <a:off x="5029200" y="4251960"/>
            <a:ext cx="3383280" cy="256032"/>
          </a:xfrm>
          <a:prstGeom prst="rect">
            <a:avLst/>
          </a:prstGeom>
          <a:noFill/>
          <a:ln/>
        </p:spPr>
        <p:txBody>
          <a:bodyPr wrap="square" rtlCol="0" anchor="ctr"/>
          <a:lstStyle/>
          <a:p>
            <a:pPr marL="0" indent="0">
              <a:buNone/>
            </a:pPr>
            <a:r>
              <a:rPr lang="en-US" sz="900" dirty="0">
                <a:solidFill>
                  <a:srgbClr val="212121"/>
                </a:solidFill>
                <a:latin typeface="Calibri" pitchFamily="34" charset="0"/>
                <a:ea typeface="Calibri" pitchFamily="34" charset="-122"/>
                <a:cs typeface="Calibri" pitchFamily="34" charset="-120"/>
              </a:rPr>
              <a:t>Total months where client paid late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3A5F"/>
          </a:solidFill>
          <a:ln/>
        </p:spPr>
        <p:txBody>
          <a:bodyPr/>
          <a:lstStyle/>
          <a:p>
            <a:endParaRPr lang="en-US"/>
          </a:p>
        </p:txBody>
      </p:sp>
      <p:sp>
        <p:nvSpPr>
          <p:cNvPr id="3" name="Text 1"/>
          <p:cNvSpPr/>
          <p:nvPr/>
        </p:nvSpPr>
        <p:spPr>
          <a:xfrm>
            <a:off x="457200" y="182880"/>
            <a:ext cx="82296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Preprocessing &amp; Modeling Plan</a:t>
            </a:r>
            <a:endParaRPr lang="en-US" sz="2800" dirty="0"/>
          </a:p>
        </p:txBody>
      </p:sp>
      <p:sp>
        <p:nvSpPr>
          <p:cNvPr id="4" name="Shape 2"/>
          <p:cNvSpPr/>
          <p:nvPr/>
        </p:nvSpPr>
        <p:spPr>
          <a:xfrm>
            <a:off x="457200" y="1097280"/>
            <a:ext cx="3931920" cy="4572000"/>
          </a:xfrm>
          <a:prstGeom prst="rect">
            <a:avLst/>
          </a:prstGeom>
          <a:solidFill>
            <a:srgbClr val="F5F5F5"/>
          </a:solidFill>
          <a:ln w="12700">
            <a:solidFill>
              <a:srgbClr val="2E7D32"/>
            </a:solidFill>
            <a:prstDash val="solid"/>
          </a:ln>
        </p:spPr>
        <p:txBody>
          <a:bodyPr/>
          <a:lstStyle/>
          <a:p>
            <a:endParaRPr lang="en-US"/>
          </a:p>
        </p:txBody>
      </p:sp>
      <p:sp>
        <p:nvSpPr>
          <p:cNvPr id="5" name="Text 3"/>
          <p:cNvSpPr/>
          <p:nvPr/>
        </p:nvSpPr>
        <p:spPr>
          <a:xfrm>
            <a:off x="640080" y="1234440"/>
            <a:ext cx="3566160" cy="274320"/>
          </a:xfrm>
          <a:prstGeom prst="rect">
            <a:avLst/>
          </a:prstGeom>
          <a:noFill/>
          <a:ln/>
        </p:spPr>
        <p:txBody>
          <a:bodyPr wrap="square"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Preprocessing Steps:</a:t>
            </a:r>
            <a:endParaRPr lang="en-US" sz="1200" dirty="0"/>
          </a:p>
        </p:txBody>
      </p:sp>
      <p:sp>
        <p:nvSpPr>
          <p:cNvPr id="6" name="Text 4"/>
          <p:cNvSpPr/>
          <p:nvPr/>
        </p:nvSpPr>
        <p:spPr>
          <a:xfrm>
            <a:off x="822960" y="1645920"/>
            <a:ext cx="320040" cy="347472"/>
          </a:xfrm>
          <a:prstGeom prst="rect">
            <a:avLst/>
          </a:prstGeom>
          <a:noFill/>
          <a:ln/>
        </p:spPr>
        <p:txBody>
          <a:bodyPr wrap="square"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1188720" y="1645920"/>
            <a:ext cx="3017520" cy="347472"/>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Drop ID column</a:t>
            </a:r>
            <a:endParaRPr lang="en-US" sz="1100" dirty="0"/>
          </a:p>
        </p:txBody>
      </p:sp>
      <p:sp>
        <p:nvSpPr>
          <p:cNvPr id="8" name="Text 6"/>
          <p:cNvSpPr/>
          <p:nvPr/>
        </p:nvSpPr>
        <p:spPr>
          <a:xfrm>
            <a:off x="822960" y="2103120"/>
            <a:ext cx="320040" cy="347472"/>
          </a:xfrm>
          <a:prstGeom prst="rect">
            <a:avLst/>
          </a:prstGeom>
          <a:noFill/>
          <a:ln/>
        </p:spPr>
        <p:txBody>
          <a:bodyPr wrap="square"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2.</a:t>
            </a:r>
            <a:endParaRPr lang="en-US" sz="1100" dirty="0"/>
          </a:p>
        </p:txBody>
      </p:sp>
      <p:sp>
        <p:nvSpPr>
          <p:cNvPr id="9" name="Text 7"/>
          <p:cNvSpPr/>
          <p:nvPr/>
        </p:nvSpPr>
        <p:spPr>
          <a:xfrm>
            <a:off x="1188720" y="2103120"/>
            <a:ext cx="3017520" cy="347472"/>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Fix EDUCATION &amp; MARRIAGE values</a:t>
            </a:r>
            <a:endParaRPr lang="en-US" sz="1100" dirty="0"/>
          </a:p>
        </p:txBody>
      </p:sp>
      <p:sp>
        <p:nvSpPr>
          <p:cNvPr id="10" name="Text 8"/>
          <p:cNvSpPr/>
          <p:nvPr/>
        </p:nvSpPr>
        <p:spPr>
          <a:xfrm>
            <a:off x="822960" y="2560320"/>
            <a:ext cx="320040" cy="347472"/>
          </a:xfrm>
          <a:prstGeom prst="rect">
            <a:avLst/>
          </a:prstGeom>
          <a:noFill/>
          <a:ln/>
        </p:spPr>
        <p:txBody>
          <a:bodyPr wrap="square"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3.</a:t>
            </a:r>
            <a:endParaRPr lang="en-US" sz="1100" dirty="0"/>
          </a:p>
        </p:txBody>
      </p:sp>
      <p:sp>
        <p:nvSpPr>
          <p:cNvPr id="11" name="Text 9"/>
          <p:cNvSpPr/>
          <p:nvPr/>
        </p:nvSpPr>
        <p:spPr>
          <a:xfrm>
            <a:off x="1188720" y="2560320"/>
            <a:ext cx="3017520" cy="347472"/>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Cap outliers in bill/payment cols</a:t>
            </a:r>
            <a:endParaRPr lang="en-US" sz="1100" dirty="0"/>
          </a:p>
        </p:txBody>
      </p:sp>
      <p:sp>
        <p:nvSpPr>
          <p:cNvPr id="12" name="Text 10"/>
          <p:cNvSpPr/>
          <p:nvPr/>
        </p:nvSpPr>
        <p:spPr>
          <a:xfrm>
            <a:off x="822960" y="3017520"/>
            <a:ext cx="320040" cy="347472"/>
          </a:xfrm>
          <a:prstGeom prst="rect">
            <a:avLst/>
          </a:prstGeom>
          <a:noFill/>
          <a:ln/>
        </p:spPr>
        <p:txBody>
          <a:bodyPr wrap="square"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4.</a:t>
            </a:r>
            <a:endParaRPr lang="en-US" sz="1100" dirty="0"/>
          </a:p>
        </p:txBody>
      </p:sp>
      <p:sp>
        <p:nvSpPr>
          <p:cNvPr id="13" name="Text 11"/>
          <p:cNvSpPr/>
          <p:nvPr/>
        </p:nvSpPr>
        <p:spPr>
          <a:xfrm>
            <a:off x="1188720" y="3017520"/>
            <a:ext cx="3017520" cy="347472"/>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Create 5 engineered features</a:t>
            </a:r>
            <a:endParaRPr lang="en-US" sz="1100" dirty="0"/>
          </a:p>
        </p:txBody>
      </p:sp>
      <p:sp>
        <p:nvSpPr>
          <p:cNvPr id="14" name="Text 12"/>
          <p:cNvSpPr/>
          <p:nvPr/>
        </p:nvSpPr>
        <p:spPr>
          <a:xfrm>
            <a:off x="822960" y="3474720"/>
            <a:ext cx="320040" cy="347472"/>
          </a:xfrm>
          <a:prstGeom prst="rect">
            <a:avLst/>
          </a:prstGeom>
          <a:noFill/>
          <a:ln/>
        </p:spPr>
        <p:txBody>
          <a:bodyPr wrap="square"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5.</a:t>
            </a:r>
            <a:endParaRPr lang="en-US" sz="1100" dirty="0"/>
          </a:p>
        </p:txBody>
      </p:sp>
      <p:sp>
        <p:nvSpPr>
          <p:cNvPr id="15" name="Text 13"/>
          <p:cNvSpPr/>
          <p:nvPr/>
        </p:nvSpPr>
        <p:spPr>
          <a:xfrm>
            <a:off x="1188720" y="3474720"/>
            <a:ext cx="3017520" cy="347472"/>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Scale all numbers (StandardScaler)</a:t>
            </a:r>
            <a:endParaRPr lang="en-US" sz="1100" dirty="0"/>
          </a:p>
        </p:txBody>
      </p:sp>
      <p:sp>
        <p:nvSpPr>
          <p:cNvPr id="16" name="Text 14"/>
          <p:cNvSpPr/>
          <p:nvPr/>
        </p:nvSpPr>
        <p:spPr>
          <a:xfrm>
            <a:off x="822960" y="3931920"/>
            <a:ext cx="320040" cy="347472"/>
          </a:xfrm>
          <a:prstGeom prst="rect">
            <a:avLst/>
          </a:prstGeom>
          <a:noFill/>
          <a:ln/>
        </p:spPr>
        <p:txBody>
          <a:bodyPr wrap="square"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6.</a:t>
            </a:r>
            <a:endParaRPr lang="en-US" sz="1100" dirty="0"/>
          </a:p>
        </p:txBody>
      </p:sp>
      <p:sp>
        <p:nvSpPr>
          <p:cNvPr id="17" name="Text 15"/>
          <p:cNvSpPr/>
          <p:nvPr/>
        </p:nvSpPr>
        <p:spPr>
          <a:xfrm>
            <a:off x="1188720" y="3931920"/>
            <a:ext cx="3017520" cy="347472"/>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Stratified 80/20 train/test split</a:t>
            </a:r>
            <a:endParaRPr lang="en-US" sz="1100" dirty="0"/>
          </a:p>
        </p:txBody>
      </p:sp>
      <p:sp>
        <p:nvSpPr>
          <p:cNvPr id="18" name="Text 16"/>
          <p:cNvSpPr/>
          <p:nvPr/>
        </p:nvSpPr>
        <p:spPr>
          <a:xfrm>
            <a:off x="822960" y="4389120"/>
            <a:ext cx="320040" cy="347472"/>
          </a:xfrm>
          <a:prstGeom prst="rect">
            <a:avLst/>
          </a:prstGeom>
          <a:noFill/>
          <a:ln/>
        </p:spPr>
        <p:txBody>
          <a:bodyPr wrap="square"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7.</a:t>
            </a:r>
            <a:endParaRPr lang="en-US" sz="1100" dirty="0"/>
          </a:p>
        </p:txBody>
      </p:sp>
      <p:sp>
        <p:nvSpPr>
          <p:cNvPr id="19" name="Text 17"/>
          <p:cNvSpPr/>
          <p:nvPr/>
        </p:nvSpPr>
        <p:spPr>
          <a:xfrm>
            <a:off x="1188720" y="4389120"/>
            <a:ext cx="3017520" cy="347472"/>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class_weight=balanced for imbalance</a:t>
            </a:r>
            <a:endParaRPr lang="en-US" sz="1100" dirty="0"/>
          </a:p>
        </p:txBody>
      </p:sp>
      <p:sp>
        <p:nvSpPr>
          <p:cNvPr id="20" name="Shape 18"/>
          <p:cNvSpPr/>
          <p:nvPr/>
        </p:nvSpPr>
        <p:spPr>
          <a:xfrm>
            <a:off x="4707172" y="1097280"/>
            <a:ext cx="3931920" cy="4572000"/>
          </a:xfrm>
          <a:prstGeom prst="rect">
            <a:avLst/>
          </a:prstGeom>
          <a:solidFill>
            <a:srgbClr val="F5F5F5"/>
          </a:solidFill>
          <a:ln w="12700">
            <a:solidFill>
              <a:srgbClr val="2E7D32"/>
            </a:solidFill>
            <a:prstDash val="solid"/>
          </a:ln>
        </p:spPr>
        <p:txBody>
          <a:bodyPr/>
          <a:lstStyle/>
          <a:p>
            <a:endParaRPr lang="en-US"/>
          </a:p>
        </p:txBody>
      </p:sp>
      <p:sp>
        <p:nvSpPr>
          <p:cNvPr id="21" name="Text 19"/>
          <p:cNvSpPr/>
          <p:nvPr/>
        </p:nvSpPr>
        <p:spPr>
          <a:xfrm>
            <a:off x="4937760" y="1234440"/>
            <a:ext cx="3566160" cy="274320"/>
          </a:xfrm>
          <a:prstGeom prst="rect">
            <a:avLst/>
          </a:prstGeom>
          <a:noFill/>
          <a:ln/>
        </p:spPr>
        <p:txBody>
          <a:bodyPr wrap="square"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Model Suggestions:</a:t>
            </a:r>
            <a:endParaRPr lang="en-US" sz="1200" dirty="0"/>
          </a:p>
        </p:txBody>
      </p:sp>
      <p:sp>
        <p:nvSpPr>
          <p:cNvPr id="22" name="Text 20"/>
          <p:cNvSpPr/>
          <p:nvPr/>
        </p:nvSpPr>
        <p:spPr>
          <a:xfrm>
            <a:off x="5029200" y="1664208"/>
            <a:ext cx="2011680" cy="274320"/>
          </a:xfrm>
          <a:prstGeom prst="rect">
            <a:avLst/>
          </a:prstGeom>
          <a:noFill/>
          <a:ln/>
        </p:spPr>
        <p:txBody>
          <a:bodyPr wrap="square"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Logistic Regression</a:t>
            </a:r>
            <a:endParaRPr lang="en-US" sz="1100" dirty="0"/>
          </a:p>
        </p:txBody>
      </p:sp>
      <p:sp>
        <p:nvSpPr>
          <p:cNvPr id="23" name="Text 21"/>
          <p:cNvSpPr/>
          <p:nvPr/>
        </p:nvSpPr>
        <p:spPr>
          <a:xfrm>
            <a:off x="5029200" y="1920240"/>
            <a:ext cx="3383280" cy="228600"/>
          </a:xfrm>
          <a:prstGeom prst="rect">
            <a:avLst/>
          </a:prstGeom>
          <a:noFill/>
          <a:ln/>
        </p:spPr>
        <p:txBody>
          <a:bodyPr wrap="square" rtlCol="0" anchor="ctr"/>
          <a:lstStyle/>
          <a:p>
            <a:pPr marL="0" indent="0">
              <a:buNone/>
            </a:pPr>
            <a:r>
              <a:rPr lang="en-US" sz="900" i="1" dirty="0">
                <a:solidFill>
                  <a:srgbClr val="212121"/>
                </a:solidFill>
                <a:latin typeface="Calibri" pitchFamily="34" charset="0"/>
                <a:ea typeface="Calibri" pitchFamily="34" charset="-122"/>
                <a:cs typeface="Calibri" pitchFamily="34" charset="-120"/>
              </a:rPr>
              <a:t>Simple baseline model</a:t>
            </a:r>
            <a:endParaRPr lang="en-US" sz="900" dirty="0"/>
          </a:p>
        </p:txBody>
      </p:sp>
      <p:sp>
        <p:nvSpPr>
          <p:cNvPr id="24" name="Text 22"/>
          <p:cNvSpPr/>
          <p:nvPr/>
        </p:nvSpPr>
        <p:spPr>
          <a:xfrm>
            <a:off x="5029200" y="2167128"/>
            <a:ext cx="2011680" cy="274320"/>
          </a:xfrm>
          <a:prstGeom prst="rect">
            <a:avLst/>
          </a:prstGeom>
          <a:noFill/>
          <a:ln/>
        </p:spPr>
        <p:txBody>
          <a:bodyPr wrap="square"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Decision Tree</a:t>
            </a:r>
            <a:endParaRPr lang="en-US" sz="1100" dirty="0"/>
          </a:p>
        </p:txBody>
      </p:sp>
      <p:sp>
        <p:nvSpPr>
          <p:cNvPr id="25" name="Text 23"/>
          <p:cNvSpPr/>
          <p:nvPr/>
        </p:nvSpPr>
        <p:spPr>
          <a:xfrm>
            <a:off x="5029200" y="2423160"/>
            <a:ext cx="3383280" cy="228600"/>
          </a:xfrm>
          <a:prstGeom prst="rect">
            <a:avLst/>
          </a:prstGeom>
          <a:noFill/>
          <a:ln/>
        </p:spPr>
        <p:txBody>
          <a:bodyPr wrap="square" rtlCol="0" anchor="ctr"/>
          <a:lstStyle/>
          <a:p>
            <a:pPr marL="0" indent="0">
              <a:buNone/>
            </a:pPr>
            <a:r>
              <a:rPr lang="en-US" sz="900" i="1" dirty="0">
                <a:solidFill>
                  <a:srgbClr val="212121"/>
                </a:solidFill>
                <a:latin typeface="Calibri" pitchFamily="34" charset="0"/>
                <a:ea typeface="Calibri" pitchFamily="34" charset="-122"/>
                <a:cs typeface="Calibri" pitchFamily="34" charset="-120"/>
              </a:rPr>
              <a:t>Easy to explain and understand</a:t>
            </a:r>
            <a:endParaRPr lang="en-US" sz="900" dirty="0"/>
          </a:p>
        </p:txBody>
      </p:sp>
      <p:sp>
        <p:nvSpPr>
          <p:cNvPr id="26" name="Text 24"/>
          <p:cNvSpPr/>
          <p:nvPr/>
        </p:nvSpPr>
        <p:spPr>
          <a:xfrm>
            <a:off x="5029200" y="2670048"/>
            <a:ext cx="2011680" cy="274320"/>
          </a:xfrm>
          <a:prstGeom prst="rect">
            <a:avLst/>
          </a:prstGeom>
          <a:noFill/>
          <a:ln/>
        </p:spPr>
        <p:txBody>
          <a:bodyPr wrap="square"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Random Forest </a:t>
            </a:r>
            <a:endParaRPr lang="en-US" sz="1100" dirty="0"/>
          </a:p>
        </p:txBody>
      </p:sp>
      <p:sp>
        <p:nvSpPr>
          <p:cNvPr id="27" name="Text 25"/>
          <p:cNvSpPr/>
          <p:nvPr/>
        </p:nvSpPr>
        <p:spPr>
          <a:xfrm>
            <a:off x="5029200" y="2926080"/>
            <a:ext cx="3383280" cy="228600"/>
          </a:xfrm>
          <a:prstGeom prst="rect">
            <a:avLst/>
          </a:prstGeom>
          <a:noFill/>
          <a:ln/>
        </p:spPr>
        <p:txBody>
          <a:bodyPr wrap="square" rtlCol="0" anchor="ctr"/>
          <a:lstStyle/>
          <a:p>
            <a:pPr marL="0" indent="0">
              <a:buNone/>
            </a:pPr>
            <a:r>
              <a:rPr lang="en-US" sz="900" i="1" dirty="0">
                <a:solidFill>
                  <a:srgbClr val="212121"/>
                </a:solidFill>
                <a:latin typeface="Calibri" pitchFamily="34" charset="0"/>
                <a:ea typeface="Calibri" pitchFamily="34" charset="-122"/>
                <a:cs typeface="Calibri" pitchFamily="34" charset="-120"/>
              </a:rPr>
              <a:t>Main model — best expected results</a:t>
            </a:r>
            <a:endParaRPr lang="en-US" sz="900" dirty="0"/>
          </a:p>
        </p:txBody>
      </p:sp>
      <p:sp>
        <p:nvSpPr>
          <p:cNvPr id="28" name="Text 26"/>
          <p:cNvSpPr/>
          <p:nvPr/>
        </p:nvSpPr>
        <p:spPr>
          <a:xfrm>
            <a:off x="5029200" y="3172968"/>
            <a:ext cx="2011680" cy="274320"/>
          </a:xfrm>
          <a:prstGeom prst="rect">
            <a:avLst/>
          </a:prstGeom>
          <a:noFill/>
          <a:ln/>
        </p:spPr>
        <p:txBody>
          <a:bodyPr wrap="square"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XGBoost</a:t>
            </a:r>
            <a:endParaRPr lang="en-US" sz="1100" dirty="0"/>
          </a:p>
        </p:txBody>
      </p:sp>
      <p:sp>
        <p:nvSpPr>
          <p:cNvPr id="29" name="Text 27"/>
          <p:cNvSpPr/>
          <p:nvPr/>
        </p:nvSpPr>
        <p:spPr>
          <a:xfrm>
            <a:off x="5029200" y="3429000"/>
            <a:ext cx="3383280" cy="228600"/>
          </a:xfrm>
          <a:prstGeom prst="rect">
            <a:avLst/>
          </a:prstGeom>
          <a:noFill/>
          <a:ln/>
        </p:spPr>
        <p:txBody>
          <a:bodyPr wrap="square" rtlCol="0" anchor="ctr"/>
          <a:lstStyle/>
          <a:p>
            <a:pPr marL="0" indent="0">
              <a:buNone/>
            </a:pPr>
            <a:r>
              <a:rPr lang="en-US" sz="900" i="1" dirty="0">
                <a:solidFill>
                  <a:srgbClr val="212121"/>
                </a:solidFill>
                <a:latin typeface="Calibri" pitchFamily="34" charset="0"/>
                <a:ea typeface="Calibri" pitchFamily="34" charset="-122"/>
                <a:cs typeface="Calibri" pitchFamily="34" charset="-120"/>
              </a:rPr>
              <a:t>For comparison</a:t>
            </a:r>
            <a:endParaRPr lang="en-US" sz="900" dirty="0"/>
          </a:p>
        </p:txBody>
      </p:sp>
      <p:sp>
        <p:nvSpPr>
          <p:cNvPr id="30" name="Text 28"/>
          <p:cNvSpPr/>
          <p:nvPr/>
        </p:nvSpPr>
        <p:spPr>
          <a:xfrm>
            <a:off x="4937760" y="3657600"/>
            <a:ext cx="3566160" cy="274320"/>
          </a:xfrm>
          <a:prstGeom prst="rect">
            <a:avLst/>
          </a:prstGeom>
          <a:noFill/>
          <a:ln/>
        </p:spPr>
        <p:txBody>
          <a:bodyPr wrap="square"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Evaluation Metrics:</a:t>
            </a:r>
            <a:endParaRPr lang="en-US" sz="1200" dirty="0"/>
          </a:p>
        </p:txBody>
      </p:sp>
      <p:sp>
        <p:nvSpPr>
          <p:cNvPr id="31" name="Text 29"/>
          <p:cNvSpPr/>
          <p:nvPr/>
        </p:nvSpPr>
        <p:spPr>
          <a:xfrm>
            <a:off x="4937760" y="3918204"/>
            <a:ext cx="3474720" cy="274320"/>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Recall — catching real defaulters (most important)</a:t>
            </a:r>
            <a:endParaRPr lang="en-US" sz="1000" dirty="0"/>
          </a:p>
        </p:txBody>
      </p:sp>
      <p:sp>
        <p:nvSpPr>
          <p:cNvPr id="32" name="Text 30"/>
          <p:cNvSpPr/>
          <p:nvPr/>
        </p:nvSpPr>
        <p:spPr>
          <a:xfrm>
            <a:off x="4937760" y="4178808"/>
            <a:ext cx="3474720" cy="274320"/>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F1-Score — balance between precision &amp; recall</a:t>
            </a:r>
            <a:endParaRPr lang="en-US" sz="1000" dirty="0"/>
          </a:p>
        </p:txBody>
      </p:sp>
      <p:sp>
        <p:nvSpPr>
          <p:cNvPr id="33" name="Text 31"/>
          <p:cNvSpPr/>
          <p:nvPr/>
        </p:nvSpPr>
        <p:spPr>
          <a:xfrm>
            <a:off x="4937760" y="4434840"/>
            <a:ext cx="3474720" cy="274320"/>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ROC-AUC — overall model quality</a:t>
            </a:r>
            <a:endParaRPr lang="en-US" sz="1000" dirty="0"/>
          </a:p>
        </p:txBody>
      </p:sp>
      <p:sp>
        <p:nvSpPr>
          <p:cNvPr id="34" name="Text 32"/>
          <p:cNvSpPr/>
          <p:nvPr/>
        </p:nvSpPr>
        <p:spPr>
          <a:xfrm>
            <a:off x="4937760" y="4686300"/>
            <a:ext cx="3474720" cy="274320"/>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Confusion Matrix — full breakdown of results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TotalTime>
  <Words>1783</Words>
  <Application>Microsoft Macintosh PowerPoint</Application>
  <PresentationFormat>On-screen Show (16:9)</PresentationFormat>
  <Paragraphs>127</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Qasim Mohamed Abdulla Hasan Alhaddad</cp:lastModifiedBy>
  <cp:revision>4</cp:revision>
  <dcterms:created xsi:type="dcterms:W3CDTF">2026-07-01T15:23:27Z</dcterms:created>
  <dcterms:modified xsi:type="dcterms:W3CDTF">2026-07-05T16:35:15Z</dcterms:modified>
</cp:coreProperties>
</file>